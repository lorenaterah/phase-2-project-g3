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11"/>
  </p:normalViewPr>
  <p:slideViewPr>
    <p:cSldViewPr>
      <p:cViewPr varScale="1">
        <p:scale>
          <a:sx n="98" d="100"/>
          <a:sy n="98" d="100"/>
        </p:scale>
        <p:origin x="224" y="2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75C44-4C01-7B45-8B3B-03A448B2DD16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63EB9-03CF-6F4F-B713-B6D4218BEE0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79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63EB9-03CF-6F4F-B713-B6D4218BEE0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338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63EB9-03CF-6F4F-B713-B6D4218BEE0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788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9158735" y="990600"/>
            <a:ext cx="8115300" cy="0"/>
          </a:xfrm>
          <a:custGeom>
            <a:avLst/>
            <a:gdLst/>
            <a:ahLst/>
            <a:cxnLst/>
            <a:rect l="l" t="t" r="r" b="b"/>
            <a:pathLst>
              <a:path w="8115300">
                <a:moveTo>
                  <a:pt x="0" y="0"/>
                </a:moveTo>
                <a:lnTo>
                  <a:pt x="8114970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043763" y="9296400"/>
            <a:ext cx="8115300" cy="0"/>
          </a:xfrm>
          <a:custGeom>
            <a:avLst/>
            <a:gdLst/>
            <a:ahLst/>
            <a:cxnLst/>
            <a:rect l="l" t="t" r="r" b="b"/>
            <a:pathLst>
              <a:path w="8115300">
                <a:moveTo>
                  <a:pt x="0" y="0"/>
                </a:moveTo>
                <a:lnTo>
                  <a:pt x="8114970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g object 19"/>
          <p:cNvSpPr/>
          <p:nvPr/>
        </p:nvSpPr>
        <p:spPr>
          <a:xfrm>
            <a:off x="9625579" y="905317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9665" y="405925"/>
                </a:moveTo>
                <a:lnTo>
                  <a:pt x="170070" y="403493"/>
                </a:lnTo>
                <a:lnTo>
                  <a:pt x="131747" y="393421"/>
                </a:lnTo>
                <a:lnTo>
                  <a:pt x="96127" y="376065"/>
                </a:lnTo>
                <a:lnTo>
                  <a:pt x="64578" y="352091"/>
                </a:lnTo>
                <a:lnTo>
                  <a:pt x="38314" y="322421"/>
                </a:lnTo>
                <a:lnTo>
                  <a:pt x="18345" y="288196"/>
                </a:lnTo>
                <a:lnTo>
                  <a:pt x="5438" y="250733"/>
                </a:lnTo>
                <a:lnTo>
                  <a:pt x="90" y="211471"/>
                </a:lnTo>
                <a:lnTo>
                  <a:pt x="61" y="204855"/>
                </a:lnTo>
                <a:lnTo>
                  <a:pt x="0" y="198196"/>
                </a:lnTo>
                <a:lnTo>
                  <a:pt x="4851" y="158609"/>
                </a:lnTo>
                <a:lnTo>
                  <a:pt x="17346" y="120734"/>
                </a:lnTo>
                <a:lnTo>
                  <a:pt x="37004" y="86032"/>
                </a:lnTo>
                <a:lnTo>
                  <a:pt x="63065" y="55842"/>
                </a:lnTo>
                <a:lnTo>
                  <a:pt x="94525" y="31328"/>
                </a:lnTo>
                <a:lnTo>
                  <a:pt x="130170" y="13437"/>
                </a:lnTo>
                <a:lnTo>
                  <a:pt x="168624" y="2858"/>
                </a:lnTo>
                <a:lnTo>
                  <a:pt x="208404" y="0"/>
                </a:lnTo>
                <a:lnTo>
                  <a:pt x="215049" y="286"/>
                </a:lnTo>
                <a:lnTo>
                  <a:pt x="254437" y="6552"/>
                </a:lnTo>
                <a:lnTo>
                  <a:pt x="291840" y="20395"/>
                </a:lnTo>
                <a:lnTo>
                  <a:pt x="325816" y="41283"/>
                </a:lnTo>
                <a:lnTo>
                  <a:pt x="355053" y="68409"/>
                </a:lnTo>
                <a:lnTo>
                  <a:pt x="378424" y="100727"/>
                </a:lnTo>
                <a:lnTo>
                  <a:pt x="395028" y="136989"/>
                </a:lnTo>
                <a:lnTo>
                  <a:pt x="404223" y="175798"/>
                </a:lnTo>
                <a:lnTo>
                  <a:pt x="405961" y="209010"/>
                </a:lnTo>
                <a:lnTo>
                  <a:pt x="405654" y="215655"/>
                </a:lnTo>
                <a:lnTo>
                  <a:pt x="399268" y="255023"/>
                </a:lnTo>
                <a:lnTo>
                  <a:pt x="385309" y="292384"/>
                </a:lnTo>
                <a:lnTo>
                  <a:pt x="364318" y="326295"/>
                </a:lnTo>
                <a:lnTo>
                  <a:pt x="337102" y="355449"/>
                </a:lnTo>
                <a:lnTo>
                  <a:pt x="304713" y="378721"/>
                </a:lnTo>
                <a:lnTo>
                  <a:pt x="268400" y="395214"/>
                </a:lnTo>
                <a:lnTo>
                  <a:pt x="229563" y="404289"/>
                </a:lnTo>
                <a:lnTo>
                  <a:pt x="216309" y="405598"/>
                </a:lnTo>
                <a:lnTo>
                  <a:pt x="209665" y="405925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g object 20"/>
          <p:cNvSpPr/>
          <p:nvPr/>
        </p:nvSpPr>
        <p:spPr>
          <a:xfrm>
            <a:off x="10262569" y="905701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7611" y="405959"/>
                </a:moveTo>
                <a:lnTo>
                  <a:pt x="158034" y="400996"/>
                </a:lnTo>
                <a:lnTo>
                  <a:pt x="120192" y="388393"/>
                </a:lnTo>
                <a:lnTo>
                  <a:pt x="85543" y="368635"/>
                </a:lnTo>
                <a:lnTo>
                  <a:pt x="55425" y="342485"/>
                </a:lnTo>
                <a:lnTo>
                  <a:pt x="31000" y="310953"/>
                </a:lnTo>
                <a:lnTo>
                  <a:pt x="13210" y="275253"/>
                </a:lnTo>
                <a:lnTo>
                  <a:pt x="2742" y="236766"/>
                </a:lnTo>
                <a:lnTo>
                  <a:pt x="0" y="196974"/>
                </a:lnTo>
                <a:lnTo>
                  <a:pt x="305" y="190329"/>
                </a:lnTo>
                <a:lnTo>
                  <a:pt x="6687" y="150957"/>
                </a:lnTo>
                <a:lnTo>
                  <a:pt x="20643" y="113591"/>
                </a:lnTo>
                <a:lnTo>
                  <a:pt x="41633" y="79675"/>
                </a:lnTo>
                <a:lnTo>
                  <a:pt x="68849" y="50517"/>
                </a:lnTo>
                <a:lnTo>
                  <a:pt x="101239" y="27241"/>
                </a:lnTo>
                <a:lnTo>
                  <a:pt x="137555" y="10746"/>
                </a:lnTo>
                <a:lnTo>
                  <a:pt x="176395" y="1668"/>
                </a:lnTo>
                <a:lnTo>
                  <a:pt x="209569" y="0"/>
                </a:lnTo>
                <a:lnTo>
                  <a:pt x="216170" y="292"/>
                </a:lnTo>
                <a:lnTo>
                  <a:pt x="255286" y="6555"/>
                </a:lnTo>
                <a:lnTo>
                  <a:pt x="292428" y="20328"/>
                </a:lnTo>
                <a:lnTo>
                  <a:pt x="326170" y="41083"/>
                </a:lnTo>
                <a:lnTo>
                  <a:pt x="355214" y="68023"/>
                </a:lnTo>
                <a:lnTo>
                  <a:pt x="378445" y="100111"/>
                </a:lnTo>
                <a:lnTo>
                  <a:pt x="394968" y="136114"/>
                </a:lnTo>
                <a:lnTo>
                  <a:pt x="404151" y="174650"/>
                </a:lnTo>
                <a:lnTo>
                  <a:pt x="405899" y="201021"/>
                </a:lnTo>
                <a:lnTo>
                  <a:pt x="405963" y="207681"/>
                </a:lnTo>
                <a:lnTo>
                  <a:pt x="401127" y="247273"/>
                </a:lnTo>
                <a:lnTo>
                  <a:pt x="388645" y="285155"/>
                </a:lnTo>
                <a:lnTo>
                  <a:pt x="368998" y="319867"/>
                </a:lnTo>
                <a:lnTo>
                  <a:pt x="342945" y="350069"/>
                </a:lnTo>
                <a:lnTo>
                  <a:pt x="311490" y="374594"/>
                </a:lnTo>
                <a:lnTo>
                  <a:pt x="275848" y="392498"/>
                </a:lnTo>
                <a:lnTo>
                  <a:pt x="237394" y="403089"/>
                </a:lnTo>
                <a:lnTo>
                  <a:pt x="210931" y="405873"/>
                </a:lnTo>
                <a:lnTo>
                  <a:pt x="197611" y="405959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g object 21"/>
          <p:cNvSpPr/>
          <p:nvPr/>
        </p:nvSpPr>
        <p:spPr>
          <a:xfrm>
            <a:off x="10900162" y="905701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7611" y="405959"/>
                </a:moveTo>
                <a:lnTo>
                  <a:pt x="158034" y="400996"/>
                </a:lnTo>
                <a:lnTo>
                  <a:pt x="120192" y="388393"/>
                </a:lnTo>
                <a:lnTo>
                  <a:pt x="85543" y="368635"/>
                </a:lnTo>
                <a:lnTo>
                  <a:pt x="55425" y="342485"/>
                </a:lnTo>
                <a:lnTo>
                  <a:pt x="31000" y="310953"/>
                </a:lnTo>
                <a:lnTo>
                  <a:pt x="13210" y="275253"/>
                </a:lnTo>
                <a:lnTo>
                  <a:pt x="2742" y="236766"/>
                </a:lnTo>
                <a:lnTo>
                  <a:pt x="0" y="196974"/>
                </a:lnTo>
                <a:lnTo>
                  <a:pt x="305" y="190329"/>
                </a:lnTo>
                <a:lnTo>
                  <a:pt x="6687" y="150957"/>
                </a:lnTo>
                <a:lnTo>
                  <a:pt x="20643" y="113591"/>
                </a:lnTo>
                <a:lnTo>
                  <a:pt x="41633" y="79675"/>
                </a:lnTo>
                <a:lnTo>
                  <a:pt x="68849" y="50517"/>
                </a:lnTo>
                <a:lnTo>
                  <a:pt x="101239" y="27241"/>
                </a:lnTo>
                <a:lnTo>
                  <a:pt x="137555" y="10746"/>
                </a:lnTo>
                <a:lnTo>
                  <a:pt x="176394" y="1668"/>
                </a:lnTo>
                <a:lnTo>
                  <a:pt x="209569" y="0"/>
                </a:lnTo>
                <a:lnTo>
                  <a:pt x="216170" y="292"/>
                </a:lnTo>
                <a:lnTo>
                  <a:pt x="255286" y="6555"/>
                </a:lnTo>
                <a:lnTo>
                  <a:pt x="292428" y="20328"/>
                </a:lnTo>
                <a:lnTo>
                  <a:pt x="326170" y="41083"/>
                </a:lnTo>
                <a:lnTo>
                  <a:pt x="355214" y="68023"/>
                </a:lnTo>
                <a:lnTo>
                  <a:pt x="378445" y="100111"/>
                </a:lnTo>
                <a:lnTo>
                  <a:pt x="394968" y="136114"/>
                </a:lnTo>
                <a:lnTo>
                  <a:pt x="404151" y="174650"/>
                </a:lnTo>
                <a:lnTo>
                  <a:pt x="405899" y="201021"/>
                </a:lnTo>
                <a:lnTo>
                  <a:pt x="405963" y="207681"/>
                </a:lnTo>
                <a:lnTo>
                  <a:pt x="401127" y="247273"/>
                </a:lnTo>
                <a:lnTo>
                  <a:pt x="388645" y="285155"/>
                </a:lnTo>
                <a:lnTo>
                  <a:pt x="368998" y="319867"/>
                </a:lnTo>
                <a:lnTo>
                  <a:pt x="342945" y="350069"/>
                </a:lnTo>
                <a:lnTo>
                  <a:pt x="311490" y="374594"/>
                </a:lnTo>
                <a:lnTo>
                  <a:pt x="275848" y="392498"/>
                </a:lnTo>
                <a:lnTo>
                  <a:pt x="237394" y="403089"/>
                </a:lnTo>
                <a:lnTo>
                  <a:pt x="210931" y="405873"/>
                </a:lnTo>
                <a:lnTo>
                  <a:pt x="197611" y="405959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g object 22"/>
          <p:cNvSpPr/>
          <p:nvPr/>
        </p:nvSpPr>
        <p:spPr>
          <a:xfrm>
            <a:off x="11537510" y="905701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7611" y="405956"/>
                </a:moveTo>
                <a:lnTo>
                  <a:pt x="158035" y="400994"/>
                </a:lnTo>
                <a:lnTo>
                  <a:pt x="120192" y="388390"/>
                </a:lnTo>
                <a:lnTo>
                  <a:pt x="85543" y="368633"/>
                </a:lnTo>
                <a:lnTo>
                  <a:pt x="55425" y="342483"/>
                </a:lnTo>
                <a:lnTo>
                  <a:pt x="31000" y="310950"/>
                </a:lnTo>
                <a:lnTo>
                  <a:pt x="13210" y="275251"/>
                </a:lnTo>
                <a:lnTo>
                  <a:pt x="2742" y="236763"/>
                </a:lnTo>
                <a:lnTo>
                  <a:pt x="0" y="196971"/>
                </a:lnTo>
                <a:lnTo>
                  <a:pt x="305" y="190326"/>
                </a:lnTo>
                <a:lnTo>
                  <a:pt x="6687" y="150954"/>
                </a:lnTo>
                <a:lnTo>
                  <a:pt x="20643" y="113589"/>
                </a:lnTo>
                <a:lnTo>
                  <a:pt x="41633" y="79673"/>
                </a:lnTo>
                <a:lnTo>
                  <a:pt x="68849" y="50514"/>
                </a:lnTo>
                <a:lnTo>
                  <a:pt x="101240" y="27238"/>
                </a:lnTo>
                <a:lnTo>
                  <a:pt x="137555" y="10743"/>
                </a:lnTo>
                <a:lnTo>
                  <a:pt x="176395" y="1666"/>
                </a:lnTo>
                <a:lnTo>
                  <a:pt x="209569" y="0"/>
                </a:lnTo>
                <a:lnTo>
                  <a:pt x="216168" y="294"/>
                </a:lnTo>
                <a:lnTo>
                  <a:pt x="255278" y="6569"/>
                </a:lnTo>
                <a:lnTo>
                  <a:pt x="292413" y="20349"/>
                </a:lnTo>
                <a:lnTo>
                  <a:pt x="326149" y="41106"/>
                </a:lnTo>
                <a:lnTo>
                  <a:pt x="355190" y="68043"/>
                </a:lnTo>
                <a:lnTo>
                  <a:pt x="378420" y="100125"/>
                </a:lnTo>
                <a:lnTo>
                  <a:pt x="394949" y="136122"/>
                </a:lnTo>
                <a:lnTo>
                  <a:pt x="404141" y="174650"/>
                </a:lnTo>
                <a:lnTo>
                  <a:pt x="405899" y="201018"/>
                </a:lnTo>
                <a:lnTo>
                  <a:pt x="405963" y="207678"/>
                </a:lnTo>
                <a:lnTo>
                  <a:pt x="401128" y="247270"/>
                </a:lnTo>
                <a:lnTo>
                  <a:pt x="388645" y="285153"/>
                </a:lnTo>
                <a:lnTo>
                  <a:pt x="368998" y="319864"/>
                </a:lnTo>
                <a:lnTo>
                  <a:pt x="342945" y="350066"/>
                </a:lnTo>
                <a:lnTo>
                  <a:pt x="311490" y="374592"/>
                </a:lnTo>
                <a:lnTo>
                  <a:pt x="275848" y="392495"/>
                </a:lnTo>
                <a:lnTo>
                  <a:pt x="237394" y="403087"/>
                </a:lnTo>
                <a:lnTo>
                  <a:pt x="210931" y="405871"/>
                </a:lnTo>
                <a:lnTo>
                  <a:pt x="197611" y="405956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g object 23"/>
          <p:cNvSpPr/>
          <p:nvPr/>
        </p:nvSpPr>
        <p:spPr>
          <a:xfrm>
            <a:off x="12174777" y="905701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7611" y="405959"/>
                </a:moveTo>
                <a:lnTo>
                  <a:pt x="158034" y="400996"/>
                </a:lnTo>
                <a:lnTo>
                  <a:pt x="120192" y="388393"/>
                </a:lnTo>
                <a:lnTo>
                  <a:pt x="85543" y="368635"/>
                </a:lnTo>
                <a:lnTo>
                  <a:pt x="55425" y="342486"/>
                </a:lnTo>
                <a:lnTo>
                  <a:pt x="31000" y="310953"/>
                </a:lnTo>
                <a:lnTo>
                  <a:pt x="13210" y="275253"/>
                </a:lnTo>
                <a:lnTo>
                  <a:pt x="2742" y="236765"/>
                </a:lnTo>
                <a:lnTo>
                  <a:pt x="0" y="196974"/>
                </a:lnTo>
                <a:lnTo>
                  <a:pt x="305" y="190328"/>
                </a:lnTo>
                <a:lnTo>
                  <a:pt x="6687" y="150956"/>
                </a:lnTo>
                <a:lnTo>
                  <a:pt x="20643" y="113591"/>
                </a:lnTo>
                <a:lnTo>
                  <a:pt x="41634" y="79675"/>
                </a:lnTo>
                <a:lnTo>
                  <a:pt x="68849" y="50517"/>
                </a:lnTo>
                <a:lnTo>
                  <a:pt x="101240" y="27241"/>
                </a:lnTo>
                <a:lnTo>
                  <a:pt x="137555" y="10746"/>
                </a:lnTo>
                <a:lnTo>
                  <a:pt x="176394" y="1668"/>
                </a:lnTo>
                <a:lnTo>
                  <a:pt x="209570" y="0"/>
                </a:lnTo>
                <a:lnTo>
                  <a:pt x="216170" y="292"/>
                </a:lnTo>
                <a:lnTo>
                  <a:pt x="255286" y="6555"/>
                </a:lnTo>
                <a:lnTo>
                  <a:pt x="292429" y="20328"/>
                </a:lnTo>
                <a:lnTo>
                  <a:pt x="326170" y="41083"/>
                </a:lnTo>
                <a:lnTo>
                  <a:pt x="355215" y="68023"/>
                </a:lnTo>
                <a:lnTo>
                  <a:pt x="378445" y="100111"/>
                </a:lnTo>
                <a:lnTo>
                  <a:pt x="394969" y="136114"/>
                </a:lnTo>
                <a:lnTo>
                  <a:pt x="404151" y="174650"/>
                </a:lnTo>
                <a:lnTo>
                  <a:pt x="405899" y="201021"/>
                </a:lnTo>
                <a:lnTo>
                  <a:pt x="405964" y="207681"/>
                </a:lnTo>
                <a:lnTo>
                  <a:pt x="401127" y="247273"/>
                </a:lnTo>
                <a:lnTo>
                  <a:pt x="388645" y="285155"/>
                </a:lnTo>
                <a:lnTo>
                  <a:pt x="368998" y="319867"/>
                </a:lnTo>
                <a:lnTo>
                  <a:pt x="342945" y="350069"/>
                </a:lnTo>
                <a:lnTo>
                  <a:pt x="311490" y="374594"/>
                </a:lnTo>
                <a:lnTo>
                  <a:pt x="275848" y="392498"/>
                </a:lnTo>
                <a:lnTo>
                  <a:pt x="237394" y="403089"/>
                </a:lnTo>
                <a:lnTo>
                  <a:pt x="210931" y="405873"/>
                </a:lnTo>
                <a:lnTo>
                  <a:pt x="197611" y="405959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g object 24"/>
          <p:cNvSpPr/>
          <p:nvPr/>
        </p:nvSpPr>
        <p:spPr>
          <a:xfrm>
            <a:off x="5653614" y="82357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9665" y="405925"/>
                </a:moveTo>
                <a:lnTo>
                  <a:pt x="170070" y="403493"/>
                </a:lnTo>
                <a:lnTo>
                  <a:pt x="131747" y="393421"/>
                </a:lnTo>
                <a:lnTo>
                  <a:pt x="96127" y="376065"/>
                </a:lnTo>
                <a:lnTo>
                  <a:pt x="64578" y="352091"/>
                </a:lnTo>
                <a:lnTo>
                  <a:pt x="38314" y="322421"/>
                </a:lnTo>
                <a:lnTo>
                  <a:pt x="18345" y="288196"/>
                </a:lnTo>
                <a:lnTo>
                  <a:pt x="5438" y="250733"/>
                </a:lnTo>
                <a:lnTo>
                  <a:pt x="90" y="211471"/>
                </a:lnTo>
                <a:lnTo>
                  <a:pt x="61" y="204855"/>
                </a:lnTo>
                <a:lnTo>
                  <a:pt x="0" y="198196"/>
                </a:lnTo>
                <a:lnTo>
                  <a:pt x="4851" y="158609"/>
                </a:lnTo>
                <a:lnTo>
                  <a:pt x="17346" y="120734"/>
                </a:lnTo>
                <a:lnTo>
                  <a:pt x="37004" y="86032"/>
                </a:lnTo>
                <a:lnTo>
                  <a:pt x="63065" y="55842"/>
                </a:lnTo>
                <a:lnTo>
                  <a:pt x="94525" y="31328"/>
                </a:lnTo>
                <a:lnTo>
                  <a:pt x="130170" y="13437"/>
                </a:lnTo>
                <a:lnTo>
                  <a:pt x="168624" y="2858"/>
                </a:lnTo>
                <a:lnTo>
                  <a:pt x="208404" y="0"/>
                </a:lnTo>
                <a:lnTo>
                  <a:pt x="215049" y="286"/>
                </a:lnTo>
                <a:lnTo>
                  <a:pt x="254437" y="6552"/>
                </a:lnTo>
                <a:lnTo>
                  <a:pt x="291840" y="20395"/>
                </a:lnTo>
                <a:lnTo>
                  <a:pt x="325816" y="41283"/>
                </a:lnTo>
                <a:lnTo>
                  <a:pt x="355053" y="68409"/>
                </a:lnTo>
                <a:lnTo>
                  <a:pt x="378424" y="100727"/>
                </a:lnTo>
                <a:lnTo>
                  <a:pt x="395028" y="136989"/>
                </a:lnTo>
                <a:lnTo>
                  <a:pt x="404223" y="175798"/>
                </a:lnTo>
                <a:lnTo>
                  <a:pt x="405961" y="209010"/>
                </a:lnTo>
                <a:lnTo>
                  <a:pt x="405654" y="215655"/>
                </a:lnTo>
                <a:lnTo>
                  <a:pt x="399268" y="255023"/>
                </a:lnTo>
                <a:lnTo>
                  <a:pt x="385309" y="292384"/>
                </a:lnTo>
                <a:lnTo>
                  <a:pt x="364318" y="326295"/>
                </a:lnTo>
                <a:lnTo>
                  <a:pt x="337102" y="355449"/>
                </a:lnTo>
                <a:lnTo>
                  <a:pt x="304713" y="378721"/>
                </a:lnTo>
                <a:lnTo>
                  <a:pt x="268400" y="395214"/>
                </a:lnTo>
                <a:lnTo>
                  <a:pt x="229563" y="404289"/>
                </a:lnTo>
                <a:lnTo>
                  <a:pt x="216309" y="405598"/>
                </a:lnTo>
                <a:lnTo>
                  <a:pt x="209665" y="405925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g object 25"/>
          <p:cNvSpPr/>
          <p:nvPr/>
        </p:nvSpPr>
        <p:spPr>
          <a:xfrm>
            <a:off x="6290605" y="82741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7611" y="405959"/>
                </a:moveTo>
                <a:lnTo>
                  <a:pt x="158034" y="400996"/>
                </a:lnTo>
                <a:lnTo>
                  <a:pt x="120192" y="388393"/>
                </a:lnTo>
                <a:lnTo>
                  <a:pt x="85543" y="368635"/>
                </a:lnTo>
                <a:lnTo>
                  <a:pt x="55425" y="342485"/>
                </a:lnTo>
                <a:lnTo>
                  <a:pt x="31000" y="310953"/>
                </a:lnTo>
                <a:lnTo>
                  <a:pt x="13210" y="275253"/>
                </a:lnTo>
                <a:lnTo>
                  <a:pt x="2742" y="236766"/>
                </a:lnTo>
                <a:lnTo>
                  <a:pt x="0" y="196974"/>
                </a:lnTo>
                <a:lnTo>
                  <a:pt x="305" y="190329"/>
                </a:lnTo>
                <a:lnTo>
                  <a:pt x="6687" y="150957"/>
                </a:lnTo>
                <a:lnTo>
                  <a:pt x="20643" y="113591"/>
                </a:lnTo>
                <a:lnTo>
                  <a:pt x="41633" y="79675"/>
                </a:lnTo>
                <a:lnTo>
                  <a:pt x="68849" y="50517"/>
                </a:lnTo>
                <a:lnTo>
                  <a:pt x="101239" y="27241"/>
                </a:lnTo>
                <a:lnTo>
                  <a:pt x="137555" y="10746"/>
                </a:lnTo>
                <a:lnTo>
                  <a:pt x="176395" y="1668"/>
                </a:lnTo>
                <a:lnTo>
                  <a:pt x="209569" y="0"/>
                </a:lnTo>
                <a:lnTo>
                  <a:pt x="216170" y="292"/>
                </a:lnTo>
                <a:lnTo>
                  <a:pt x="255286" y="6555"/>
                </a:lnTo>
                <a:lnTo>
                  <a:pt x="292428" y="20328"/>
                </a:lnTo>
                <a:lnTo>
                  <a:pt x="326170" y="41083"/>
                </a:lnTo>
                <a:lnTo>
                  <a:pt x="355214" y="68023"/>
                </a:lnTo>
                <a:lnTo>
                  <a:pt x="378445" y="100111"/>
                </a:lnTo>
                <a:lnTo>
                  <a:pt x="394968" y="136114"/>
                </a:lnTo>
                <a:lnTo>
                  <a:pt x="404151" y="174650"/>
                </a:lnTo>
                <a:lnTo>
                  <a:pt x="405899" y="201021"/>
                </a:lnTo>
                <a:lnTo>
                  <a:pt x="405963" y="207681"/>
                </a:lnTo>
                <a:lnTo>
                  <a:pt x="401127" y="247273"/>
                </a:lnTo>
                <a:lnTo>
                  <a:pt x="388645" y="285155"/>
                </a:lnTo>
                <a:lnTo>
                  <a:pt x="368998" y="319867"/>
                </a:lnTo>
                <a:lnTo>
                  <a:pt x="342945" y="350069"/>
                </a:lnTo>
                <a:lnTo>
                  <a:pt x="311490" y="374594"/>
                </a:lnTo>
                <a:lnTo>
                  <a:pt x="275848" y="392498"/>
                </a:lnTo>
                <a:lnTo>
                  <a:pt x="237394" y="403089"/>
                </a:lnTo>
                <a:lnTo>
                  <a:pt x="210931" y="405873"/>
                </a:lnTo>
                <a:lnTo>
                  <a:pt x="197611" y="405959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g object 26"/>
          <p:cNvSpPr/>
          <p:nvPr/>
        </p:nvSpPr>
        <p:spPr>
          <a:xfrm>
            <a:off x="6928198" y="82741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7611" y="405959"/>
                </a:moveTo>
                <a:lnTo>
                  <a:pt x="158034" y="400996"/>
                </a:lnTo>
                <a:lnTo>
                  <a:pt x="120192" y="388393"/>
                </a:lnTo>
                <a:lnTo>
                  <a:pt x="85543" y="368635"/>
                </a:lnTo>
                <a:lnTo>
                  <a:pt x="55425" y="342485"/>
                </a:lnTo>
                <a:lnTo>
                  <a:pt x="31000" y="310953"/>
                </a:lnTo>
                <a:lnTo>
                  <a:pt x="13210" y="275253"/>
                </a:lnTo>
                <a:lnTo>
                  <a:pt x="2742" y="236766"/>
                </a:lnTo>
                <a:lnTo>
                  <a:pt x="0" y="196974"/>
                </a:lnTo>
                <a:lnTo>
                  <a:pt x="305" y="190329"/>
                </a:lnTo>
                <a:lnTo>
                  <a:pt x="6687" y="150957"/>
                </a:lnTo>
                <a:lnTo>
                  <a:pt x="20643" y="113591"/>
                </a:lnTo>
                <a:lnTo>
                  <a:pt x="41633" y="79675"/>
                </a:lnTo>
                <a:lnTo>
                  <a:pt x="68849" y="50517"/>
                </a:lnTo>
                <a:lnTo>
                  <a:pt x="101239" y="27241"/>
                </a:lnTo>
                <a:lnTo>
                  <a:pt x="137555" y="10746"/>
                </a:lnTo>
                <a:lnTo>
                  <a:pt x="176394" y="1668"/>
                </a:lnTo>
                <a:lnTo>
                  <a:pt x="209569" y="0"/>
                </a:lnTo>
                <a:lnTo>
                  <a:pt x="216170" y="292"/>
                </a:lnTo>
                <a:lnTo>
                  <a:pt x="255286" y="6555"/>
                </a:lnTo>
                <a:lnTo>
                  <a:pt x="292428" y="20328"/>
                </a:lnTo>
                <a:lnTo>
                  <a:pt x="326170" y="41083"/>
                </a:lnTo>
                <a:lnTo>
                  <a:pt x="355214" y="68023"/>
                </a:lnTo>
                <a:lnTo>
                  <a:pt x="378445" y="100111"/>
                </a:lnTo>
                <a:lnTo>
                  <a:pt x="394968" y="136114"/>
                </a:lnTo>
                <a:lnTo>
                  <a:pt x="404151" y="174650"/>
                </a:lnTo>
                <a:lnTo>
                  <a:pt x="405899" y="201021"/>
                </a:lnTo>
                <a:lnTo>
                  <a:pt x="405963" y="207681"/>
                </a:lnTo>
                <a:lnTo>
                  <a:pt x="401127" y="247273"/>
                </a:lnTo>
                <a:lnTo>
                  <a:pt x="388645" y="285155"/>
                </a:lnTo>
                <a:lnTo>
                  <a:pt x="368998" y="319867"/>
                </a:lnTo>
                <a:lnTo>
                  <a:pt x="342945" y="350069"/>
                </a:lnTo>
                <a:lnTo>
                  <a:pt x="311490" y="374594"/>
                </a:lnTo>
                <a:lnTo>
                  <a:pt x="275848" y="392498"/>
                </a:lnTo>
                <a:lnTo>
                  <a:pt x="237394" y="403089"/>
                </a:lnTo>
                <a:lnTo>
                  <a:pt x="210931" y="405873"/>
                </a:lnTo>
                <a:lnTo>
                  <a:pt x="197611" y="405959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g object 27"/>
          <p:cNvSpPr/>
          <p:nvPr/>
        </p:nvSpPr>
        <p:spPr>
          <a:xfrm>
            <a:off x="7565545" y="827415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7611" y="405956"/>
                </a:moveTo>
                <a:lnTo>
                  <a:pt x="158035" y="400994"/>
                </a:lnTo>
                <a:lnTo>
                  <a:pt x="120192" y="388390"/>
                </a:lnTo>
                <a:lnTo>
                  <a:pt x="85543" y="368633"/>
                </a:lnTo>
                <a:lnTo>
                  <a:pt x="55425" y="342483"/>
                </a:lnTo>
                <a:lnTo>
                  <a:pt x="31000" y="310950"/>
                </a:lnTo>
                <a:lnTo>
                  <a:pt x="13210" y="275251"/>
                </a:lnTo>
                <a:lnTo>
                  <a:pt x="2742" y="236763"/>
                </a:lnTo>
                <a:lnTo>
                  <a:pt x="0" y="196971"/>
                </a:lnTo>
                <a:lnTo>
                  <a:pt x="305" y="190326"/>
                </a:lnTo>
                <a:lnTo>
                  <a:pt x="6687" y="150954"/>
                </a:lnTo>
                <a:lnTo>
                  <a:pt x="20643" y="113589"/>
                </a:lnTo>
                <a:lnTo>
                  <a:pt x="41633" y="79673"/>
                </a:lnTo>
                <a:lnTo>
                  <a:pt x="68849" y="50514"/>
                </a:lnTo>
                <a:lnTo>
                  <a:pt x="101240" y="27238"/>
                </a:lnTo>
                <a:lnTo>
                  <a:pt x="137555" y="10743"/>
                </a:lnTo>
                <a:lnTo>
                  <a:pt x="176395" y="1666"/>
                </a:lnTo>
                <a:lnTo>
                  <a:pt x="209569" y="0"/>
                </a:lnTo>
                <a:lnTo>
                  <a:pt x="216168" y="294"/>
                </a:lnTo>
                <a:lnTo>
                  <a:pt x="255278" y="6569"/>
                </a:lnTo>
                <a:lnTo>
                  <a:pt x="292413" y="20349"/>
                </a:lnTo>
                <a:lnTo>
                  <a:pt x="326149" y="41106"/>
                </a:lnTo>
                <a:lnTo>
                  <a:pt x="355190" y="68043"/>
                </a:lnTo>
                <a:lnTo>
                  <a:pt x="378420" y="100125"/>
                </a:lnTo>
                <a:lnTo>
                  <a:pt x="394949" y="136122"/>
                </a:lnTo>
                <a:lnTo>
                  <a:pt x="404141" y="174650"/>
                </a:lnTo>
                <a:lnTo>
                  <a:pt x="405899" y="201018"/>
                </a:lnTo>
                <a:lnTo>
                  <a:pt x="405963" y="207678"/>
                </a:lnTo>
                <a:lnTo>
                  <a:pt x="401128" y="247270"/>
                </a:lnTo>
                <a:lnTo>
                  <a:pt x="388645" y="285153"/>
                </a:lnTo>
                <a:lnTo>
                  <a:pt x="368998" y="319864"/>
                </a:lnTo>
                <a:lnTo>
                  <a:pt x="342945" y="350066"/>
                </a:lnTo>
                <a:lnTo>
                  <a:pt x="311490" y="374592"/>
                </a:lnTo>
                <a:lnTo>
                  <a:pt x="275848" y="392495"/>
                </a:lnTo>
                <a:lnTo>
                  <a:pt x="237394" y="403087"/>
                </a:lnTo>
                <a:lnTo>
                  <a:pt x="210931" y="405871"/>
                </a:lnTo>
                <a:lnTo>
                  <a:pt x="197611" y="405956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g object 28"/>
          <p:cNvSpPr/>
          <p:nvPr/>
        </p:nvSpPr>
        <p:spPr>
          <a:xfrm>
            <a:off x="8202812" y="827412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7611" y="405959"/>
                </a:moveTo>
                <a:lnTo>
                  <a:pt x="158034" y="400996"/>
                </a:lnTo>
                <a:lnTo>
                  <a:pt x="120192" y="388393"/>
                </a:lnTo>
                <a:lnTo>
                  <a:pt x="85543" y="368635"/>
                </a:lnTo>
                <a:lnTo>
                  <a:pt x="55425" y="342486"/>
                </a:lnTo>
                <a:lnTo>
                  <a:pt x="31000" y="310953"/>
                </a:lnTo>
                <a:lnTo>
                  <a:pt x="13210" y="275253"/>
                </a:lnTo>
                <a:lnTo>
                  <a:pt x="2742" y="236765"/>
                </a:lnTo>
                <a:lnTo>
                  <a:pt x="0" y="196974"/>
                </a:lnTo>
                <a:lnTo>
                  <a:pt x="305" y="190328"/>
                </a:lnTo>
                <a:lnTo>
                  <a:pt x="6687" y="150956"/>
                </a:lnTo>
                <a:lnTo>
                  <a:pt x="20643" y="113591"/>
                </a:lnTo>
                <a:lnTo>
                  <a:pt x="41634" y="79675"/>
                </a:lnTo>
                <a:lnTo>
                  <a:pt x="68849" y="50517"/>
                </a:lnTo>
                <a:lnTo>
                  <a:pt x="101240" y="27241"/>
                </a:lnTo>
                <a:lnTo>
                  <a:pt x="137555" y="10746"/>
                </a:lnTo>
                <a:lnTo>
                  <a:pt x="176394" y="1668"/>
                </a:lnTo>
                <a:lnTo>
                  <a:pt x="209570" y="0"/>
                </a:lnTo>
                <a:lnTo>
                  <a:pt x="216170" y="292"/>
                </a:lnTo>
                <a:lnTo>
                  <a:pt x="255286" y="6555"/>
                </a:lnTo>
                <a:lnTo>
                  <a:pt x="292429" y="20328"/>
                </a:lnTo>
                <a:lnTo>
                  <a:pt x="326170" y="41083"/>
                </a:lnTo>
                <a:lnTo>
                  <a:pt x="355215" y="68023"/>
                </a:lnTo>
                <a:lnTo>
                  <a:pt x="378445" y="100111"/>
                </a:lnTo>
                <a:lnTo>
                  <a:pt x="394969" y="136114"/>
                </a:lnTo>
                <a:lnTo>
                  <a:pt x="404151" y="174650"/>
                </a:lnTo>
                <a:lnTo>
                  <a:pt x="405899" y="201021"/>
                </a:lnTo>
                <a:lnTo>
                  <a:pt x="405964" y="207681"/>
                </a:lnTo>
                <a:lnTo>
                  <a:pt x="401127" y="247273"/>
                </a:lnTo>
                <a:lnTo>
                  <a:pt x="388645" y="285155"/>
                </a:lnTo>
                <a:lnTo>
                  <a:pt x="368998" y="319867"/>
                </a:lnTo>
                <a:lnTo>
                  <a:pt x="342945" y="350069"/>
                </a:lnTo>
                <a:lnTo>
                  <a:pt x="311490" y="374594"/>
                </a:lnTo>
                <a:lnTo>
                  <a:pt x="275848" y="392498"/>
                </a:lnTo>
                <a:lnTo>
                  <a:pt x="237394" y="403089"/>
                </a:lnTo>
                <a:lnTo>
                  <a:pt x="210931" y="405873"/>
                </a:lnTo>
                <a:lnTo>
                  <a:pt x="197611" y="405959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9" name="bg 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325"/>
            <a:ext cx="5105399" cy="30670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99544" y="2425590"/>
            <a:ext cx="11967844" cy="285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1">
                <a:solidFill>
                  <a:srgbClr val="0E45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1">
                <a:solidFill>
                  <a:srgbClr val="0E45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1">
                <a:solidFill>
                  <a:srgbClr val="0E45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50" b="1" i="1">
                <a:solidFill>
                  <a:srgbClr val="0E45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296" y="2509184"/>
            <a:ext cx="10553971" cy="61387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1">
                <a:solidFill>
                  <a:srgbClr val="0E45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1">
                <a:solidFill>
                  <a:srgbClr val="0E45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390718"/>
            <a:ext cx="11544935" cy="1642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1">
                <a:solidFill>
                  <a:srgbClr val="0E45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0551" y="2407535"/>
            <a:ext cx="14172565" cy="5683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1">
                <a:solidFill>
                  <a:srgbClr val="0E45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2799544" y="2425590"/>
            <a:ext cx="11967845" cy="2856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50" b="1" i="1" spc="-1880" dirty="0">
                <a:solidFill>
                  <a:srgbClr val="0E4561"/>
                </a:solidFill>
                <a:latin typeface="Cambria"/>
                <a:cs typeface="Cambria"/>
              </a:rPr>
              <a:t>Group</a:t>
            </a:r>
            <a:r>
              <a:rPr sz="18550" b="1" i="1" spc="265" dirty="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18550" b="1" i="1" spc="-1789" dirty="0">
                <a:solidFill>
                  <a:srgbClr val="0E4561"/>
                </a:solidFill>
                <a:latin typeface="Cambria"/>
                <a:cs typeface="Cambria"/>
              </a:rPr>
              <a:t>Project</a:t>
            </a:r>
            <a:endParaRPr sz="1855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3461" y="5965319"/>
            <a:ext cx="5821045" cy="770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850" spc="-180" dirty="0">
                <a:solidFill>
                  <a:srgbClr val="0E4561"/>
                </a:solidFill>
                <a:latin typeface="Verdana"/>
                <a:cs typeface="Verdana"/>
              </a:rPr>
              <a:t>Movie</a:t>
            </a:r>
            <a:r>
              <a:rPr sz="4850" spc="-34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4850" spc="-120" dirty="0">
                <a:solidFill>
                  <a:srgbClr val="0E4561"/>
                </a:solidFill>
                <a:latin typeface="Verdana"/>
                <a:cs typeface="Verdana"/>
              </a:rPr>
              <a:t>Data</a:t>
            </a:r>
            <a:r>
              <a:rPr sz="4850" spc="-33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4850" spc="-150" dirty="0">
                <a:solidFill>
                  <a:srgbClr val="0E4561"/>
                </a:solidFill>
                <a:latin typeface="Verdana"/>
                <a:cs typeface="Verdana"/>
              </a:rPr>
              <a:t>Analysis</a:t>
            </a:r>
            <a:endParaRPr sz="485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08626" y="1992329"/>
            <a:ext cx="3870960" cy="504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50" spc="-100" dirty="0">
                <a:solidFill>
                  <a:srgbClr val="0E4561"/>
                </a:solidFill>
                <a:latin typeface="Verdana"/>
                <a:cs typeface="Verdana"/>
              </a:rPr>
              <a:t>Prepared</a:t>
            </a:r>
            <a:r>
              <a:rPr sz="3150" spc="-229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3150" spc="-95" dirty="0">
                <a:solidFill>
                  <a:srgbClr val="0E4561"/>
                </a:solidFill>
                <a:latin typeface="Verdana"/>
                <a:cs typeface="Verdana"/>
              </a:rPr>
              <a:t>by</a:t>
            </a:r>
            <a:r>
              <a:rPr sz="3150" spc="-229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3150" spc="-105" dirty="0">
                <a:solidFill>
                  <a:srgbClr val="0E4561"/>
                </a:solidFill>
                <a:latin typeface="Verdana"/>
                <a:cs typeface="Verdana"/>
              </a:rPr>
              <a:t>group</a:t>
            </a:r>
            <a:r>
              <a:rPr sz="3150" spc="-22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lang="en-US" sz="3150" spc="-350" dirty="0">
                <a:solidFill>
                  <a:srgbClr val="0E4561"/>
                </a:solidFill>
                <a:latin typeface="Verdana"/>
                <a:cs typeface="Verdana"/>
              </a:rPr>
              <a:t>3</a:t>
            </a:r>
            <a:endParaRPr sz="3150" dirty="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84181" y="6191102"/>
            <a:ext cx="5103817" cy="30670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4099560"/>
          </a:xfrm>
          <a:custGeom>
            <a:avLst/>
            <a:gdLst/>
            <a:ahLst/>
            <a:cxnLst/>
            <a:rect l="l" t="t" r="r" b="b"/>
            <a:pathLst>
              <a:path w="18288000" h="4099560">
                <a:moveTo>
                  <a:pt x="18287550" y="4099485"/>
                </a:moveTo>
                <a:lnTo>
                  <a:pt x="0" y="4099485"/>
                </a:lnTo>
                <a:lnTo>
                  <a:pt x="0" y="0"/>
                </a:lnTo>
                <a:lnTo>
                  <a:pt x="18287550" y="0"/>
                </a:lnTo>
                <a:lnTo>
                  <a:pt x="18287550" y="4099485"/>
                </a:lnTo>
                <a:close/>
              </a:path>
            </a:pathLst>
          </a:custGeom>
          <a:solidFill>
            <a:srgbClr val="DAE4E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83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60" dirty="0"/>
              <a:t>Group</a:t>
            </a:r>
            <a:r>
              <a:rPr spc="95" dirty="0"/>
              <a:t> </a:t>
            </a:r>
            <a:r>
              <a:rPr spc="-855" dirty="0"/>
              <a:t>Members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5153" y="6573350"/>
            <a:ext cx="2819400" cy="145873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lang="en-US" sz="3400" b="1" spc="-90" dirty="0">
                <a:solidFill>
                  <a:srgbClr val="0E4561"/>
                </a:solidFill>
                <a:latin typeface="Tahoma"/>
                <a:cs typeface="Tahoma"/>
              </a:rPr>
              <a:t>Edgar Owuor </a:t>
            </a:r>
            <a:endParaRPr sz="34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50"/>
              </a:spcBef>
            </a:pPr>
            <a:r>
              <a:rPr sz="3400" spc="-10" dirty="0">
                <a:solidFill>
                  <a:srgbClr val="0E4561"/>
                </a:solidFill>
                <a:latin typeface="Verdana"/>
                <a:cs typeface="Verdana"/>
              </a:rPr>
              <a:t>member</a:t>
            </a:r>
            <a:endParaRPr sz="3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5153" y="4405372"/>
            <a:ext cx="3025775" cy="132334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25"/>
              </a:spcBef>
            </a:pPr>
            <a:r>
              <a:rPr lang="en-US" sz="3400" b="1" dirty="0">
                <a:solidFill>
                  <a:srgbClr val="0E4561"/>
                </a:solidFill>
                <a:latin typeface="Tahoma"/>
                <a:cs typeface="Tahoma"/>
              </a:rPr>
              <a:t>Lorena Terah</a:t>
            </a:r>
            <a:endParaRPr sz="34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3400" spc="-10" dirty="0">
                <a:solidFill>
                  <a:srgbClr val="0E4561"/>
                </a:solidFill>
                <a:latin typeface="Verdana"/>
                <a:cs typeface="Verdana"/>
              </a:rPr>
              <a:t>Leader</a:t>
            </a:r>
            <a:endParaRPr sz="340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97879" y="8681204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7825" y="9538575"/>
            <a:ext cx="229776" cy="22976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8315" y="9540750"/>
            <a:ext cx="229780" cy="2297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9124" y="9540750"/>
            <a:ext cx="229780" cy="22977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9793" y="9540754"/>
            <a:ext cx="229780" cy="22976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50417" y="9540750"/>
            <a:ext cx="229780" cy="22977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031285" y="4350288"/>
            <a:ext cx="3274060" cy="156527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lang="en-US" sz="3400" b="1" spc="-70" dirty="0">
                <a:solidFill>
                  <a:srgbClr val="0E4561"/>
                </a:solidFill>
                <a:latin typeface="Tahoma"/>
                <a:cs typeface="Tahoma"/>
              </a:rPr>
              <a:t>Sharon Kipruto</a:t>
            </a:r>
            <a:endParaRPr sz="3400" dirty="0">
              <a:latin typeface="Tahoma"/>
              <a:cs typeface="Tahoma"/>
            </a:endParaRPr>
          </a:p>
          <a:p>
            <a:pPr marL="693420">
              <a:lnSpc>
                <a:spcPct val="100000"/>
              </a:lnSpc>
              <a:spcBef>
                <a:spcPts val="1985"/>
              </a:spcBef>
            </a:pPr>
            <a:r>
              <a:rPr sz="3400" spc="-10" dirty="0">
                <a:solidFill>
                  <a:srgbClr val="0E4561"/>
                </a:solidFill>
                <a:latin typeface="Verdana"/>
                <a:cs typeface="Verdana"/>
              </a:rPr>
              <a:t>member</a:t>
            </a:r>
            <a:endParaRPr sz="3400" dirty="0">
              <a:latin typeface="Verdana"/>
              <a:cs typeface="Verdana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F2BCFF24-0E90-3A3A-C80B-FC0066B2EB47}"/>
              </a:ext>
            </a:extLst>
          </p:cNvPr>
          <p:cNvSpPr txBox="1"/>
          <p:nvPr/>
        </p:nvSpPr>
        <p:spPr>
          <a:xfrm>
            <a:off x="6547228" y="6571750"/>
            <a:ext cx="3980745" cy="145873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lang="en-US" sz="3400" b="1" spc="-90" dirty="0">
                <a:solidFill>
                  <a:srgbClr val="0E4561"/>
                </a:solidFill>
                <a:latin typeface="Tahoma"/>
                <a:cs typeface="Tahoma"/>
              </a:rPr>
              <a:t>Stephen Musyoka</a:t>
            </a:r>
            <a:endParaRPr sz="34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50"/>
              </a:spcBef>
            </a:pPr>
            <a:r>
              <a:rPr sz="3400" spc="-10" dirty="0">
                <a:solidFill>
                  <a:srgbClr val="0E4561"/>
                </a:solidFill>
                <a:latin typeface="Verdana"/>
                <a:cs typeface="Verdana"/>
              </a:rPr>
              <a:t>member</a:t>
            </a:r>
            <a:endParaRPr sz="3400" dirty="0">
              <a:latin typeface="Verdana"/>
              <a:cs typeface="Verdana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1D25CBE5-88B3-A86D-A7E4-404F0D4C13D6}"/>
              </a:ext>
            </a:extLst>
          </p:cNvPr>
          <p:cNvSpPr txBox="1"/>
          <p:nvPr/>
        </p:nvSpPr>
        <p:spPr>
          <a:xfrm>
            <a:off x="12658788" y="6385739"/>
            <a:ext cx="2807272" cy="145873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lang="en-US" sz="3400" b="1" spc="-90" dirty="0">
                <a:solidFill>
                  <a:srgbClr val="0E4561"/>
                </a:solidFill>
                <a:latin typeface="Tahoma"/>
                <a:cs typeface="Tahoma"/>
              </a:rPr>
              <a:t>Dawa Jarso</a:t>
            </a:r>
            <a:endParaRPr sz="34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050"/>
              </a:spcBef>
            </a:pPr>
            <a:r>
              <a:rPr sz="3400" spc="-10" dirty="0">
                <a:solidFill>
                  <a:srgbClr val="0E4561"/>
                </a:solidFill>
                <a:latin typeface="Verdana"/>
                <a:cs typeface="Verdana"/>
              </a:rPr>
              <a:t>member</a:t>
            </a:r>
            <a:endParaRPr sz="3400" dirty="0">
              <a:latin typeface="Verdana"/>
              <a:cs typeface="Verdana"/>
            </a:endParaRPr>
          </a:p>
        </p:txBody>
      </p:sp>
      <p:sp>
        <p:nvSpPr>
          <p:cNvPr id="17" name="object 12">
            <a:extLst>
              <a:ext uri="{FF2B5EF4-FFF2-40B4-BE49-F238E27FC236}">
                <a16:creationId xmlns:a16="http://schemas.microsoft.com/office/drawing/2014/main" id="{240FD386-60F2-30C7-AD38-9D28AFD54A84}"/>
              </a:ext>
            </a:extLst>
          </p:cNvPr>
          <p:cNvSpPr txBox="1"/>
          <p:nvPr/>
        </p:nvSpPr>
        <p:spPr>
          <a:xfrm>
            <a:off x="12192000" y="4360861"/>
            <a:ext cx="3274060" cy="156527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lang="en-US" sz="3400" b="1" spc="-70" dirty="0">
                <a:solidFill>
                  <a:srgbClr val="0E4561"/>
                </a:solidFill>
                <a:latin typeface="Tahoma"/>
                <a:cs typeface="Tahoma"/>
              </a:rPr>
              <a:t>Salma Mwende</a:t>
            </a:r>
            <a:endParaRPr sz="3400" dirty="0">
              <a:latin typeface="Tahoma"/>
              <a:cs typeface="Tahoma"/>
            </a:endParaRPr>
          </a:p>
          <a:p>
            <a:pPr marL="693420">
              <a:lnSpc>
                <a:spcPct val="100000"/>
              </a:lnSpc>
              <a:spcBef>
                <a:spcPts val="1985"/>
              </a:spcBef>
            </a:pPr>
            <a:r>
              <a:rPr sz="3400" spc="-10" dirty="0">
                <a:solidFill>
                  <a:srgbClr val="0E4561"/>
                </a:solidFill>
                <a:latin typeface="Verdana"/>
                <a:cs typeface="Verdana"/>
              </a:rPr>
              <a:t>member</a:t>
            </a:r>
            <a:endParaRPr sz="3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2492" y="4295204"/>
            <a:ext cx="6807200" cy="287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41800"/>
              </a:lnSpc>
              <a:spcBef>
                <a:spcPts val="95"/>
              </a:spcBef>
            </a:pPr>
            <a:r>
              <a:rPr sz="1650" spc="-80" dirty="0">
                <a:solidFill>
                  <a:srgbClr val="0E4561"/>
                </a:solidFill>
                <a:latin typeface="Verdana"/>
                <a:cs typeface="Verdana"/>
              </a:rPr>
              <a:t>This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55" dirty="0">
                <a:solidFill>
                  <a:srgbClr val="0E4561"/>
                </a:solidFill>
                <a:latin typeface="Verdana"/>
                <a:cs typeface="Verdana"/>
              </a:rPr>
              <a:t>project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80" dirty="0">
                <a:solidFill>
                  <a:srgbClr val="0E4561"/>
                </a:solidFill>
                <a:latin typeface="Verdana"/>
                <a:cs typeface="Verdana"/>
              </a:rPr>
              <a:t>involves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55" dirty="0">
                <a:solidFill>
                  <a:srgbClr val="0E4561"/>
                </a:solidFill>
                <a:latin typeface="Verdana"/>
                <a:cs typeface="Verdana"/>
              </a:rPr>
              <a:t>conducting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40" dirty="0">
                <a:solidFill>
                  <a:srgbClr val="0E4561"/>
                </a:solidFill>
                <a:latin typeface="Verdana"/>
                <a:cs typeface="Verdana"/>
              </a:rPr>
              <a:t>an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in-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depth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0" dirty="0">
                <a:solidFill>
                  <a:srgbClr val="0E4561"/>
                </a:solidFill>
                <a:latin typeface="Verdana"/>
                <a:cs typeface="Verdana"/>
              </a:rPr>
              <a:t>analysis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55" dirty="0">
                <a:solidFill>
                  <a:srgbClr val="0E4561"/>
                </a:solidFill>
                <a:latin typeface="Verdana"/>
                <a:cs typeface="Verdana"/>
              </a:rPr>
              <a:t>aimed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0E4561"/>
                </a:solidFill>
                <a:latin typeface="Verdana"/>
                <a:cs typeface="Verdana"/>
              </a:rPr>
              <a:t>at </a:t>
            </a:r>
            <a:r>
              <a:rPr sz="1650" spc="-55" dirty="0">
                <a:solidFill>
                  <a:srgbClr val="0E4561"/>
                </a:solidFill>
                <a:latin typeface="Verdana"/>
                <a:cs typeface="Verdana"/>
              </a:rPr>
              <a:t>generating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45" dirty="0">
                <a:solidFill>
                  <a:srgbClr val="0E4561"/>
                </a:solidFill>
                <a:latin typeface="Verdana"/>
                <a:cs typeface="Verdana"/>
              </a:rPr>
              <a:t>actionable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85" dirty="0">
                <a:solidFill>
                  <a:srgbClr val="0E4561"/>
                </a:solidFill>
                <a:latin typeface="Verdana"/>
                <a:cs typeface="Verdana"/>
              </a:rPr>
              <a:t>insights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0E4561"/>
                </a:solidFill>
                <a:latin typeface="Verdana"/>
                <a:cs typeface="Verdana"/>
              </a:rPr>
              <a:t>for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stakeholders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in </a:t>
            </a:r>
            <a:r>
              <a:rPr sz="1650" spc="-90" dirty="0">
                <a:solidFill>
                  <a:srgbClr val="0E4561"/>
                </a:solidFill>
                <a:latin typeface="Verdana"/>
                <a:cs typeface="Verdana"/>
              </a:rPr>
              <a:t>the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70" dirty="0">
                <a:solidFill>
                  <a:srgbClr val="0E4561"/>
                </a:solidFill>
                <a:latin typeface="Verdana"/>
                <a:cs typeface="Verdana"/>
              </a:rPr>
              <a:t>movie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80" dirty="0">
                <a:solidFill>
                  <a:srgbClr val="0E4561"/>
                </a:solidFill>
                <a:latin typeface="Verdana"/>
                <a:cs typeface="Verdana"/>
              </a:rPr>
              <a:t>business.</a:t>
            </a:r>
            <a:endParaRPr sz="1650" dirty="0">
              <a:latin typeface="Verdana"/>
              <a:cs typeface="Verdana"/>
            </a:endParaRPr>
          </a:p>
          <a:p>
            <a:pPr marL="125730" marR="118110" indent="-635" algn="ctr">
              <a:lnSpc>
                <a:spcPct val="141800"/>
              </a:lnSpc>
            </a:pPr>
            <a:r>
              <a:rPr sz="1650" spc="-60" dirty="0">
                <a:solidFill>
                  <a:srgbClr val="0E4561"/>
                </a:solidFill>
                <a:latin typeface="Verdana"/>
                <a:cs typeface="Verdana"/>
              </a:rPr>
              <a:t>The</a:t>
            </a:r>
            <a:r>
              <a:rPr sz="1650" spc="-11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0" dirty="0">
                <a:solidFill>
                  <a:srgbClr val="0E4561"/>
                </a:solidFill>
                <a:latin typeface="Verdana"/>
                <a:cs typeface="Verdana"/>
              </a:rPr>
              <a:t>analysis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90" dirty="0">
                <a:solidFill>
                  <a:srgbClr val="0E4561"/>
                </a:solidFill>
                <a:latin typeface="Verdana"/>
                <a:cs typeface="Verdana"/>
              </a:rPr>
              <a:t>will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explore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various</a:t>
            </a:r>
            <a:r>
              <a:rPr sz="1650" spc="-11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50" dirty="0">
                <a:solidFill>
                  <a:srgbClr val="0E4561"/>
                </a:solidFill>
                <a:latin typeface="Verdana"/>
                <a:cs typeface="Verdana"/>
              </a:rPr>
              <a:t>aspects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0E4561"/>
                </a:solidFill>
                <a:latin typeface="Verdana"/>
                <a:cs typeface="Verdana"/>
              </a:rPr>
              <a:t>of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90" dirty="0">
                <a:solidFill>
                  <a:srgbClr val="0E4561"/>
                </a:solidFill>
                <a:latin typeface="Verdana"/>
                <a:cs typeface="Verdana"/>
              </a:rPr>
              <a:t>the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70" dirty="0">
                <a:solidFill>
                  <a:srgbClr val="0E4561"/>
                </a:solidFill>
                <a:latin typeface="Verdana"/>
                <a:cs typeface="Verdana"/>
              </a:rPr>
              <a:t>movie</a:t>
            </a:r>
            <a:r>
              <a:rPr sz="1650" spc="-11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E4561"/>
                </a:solidFill>
                <a:latin typeface="Verdana"/>
                <a:cs typeface="Verdana"/>
              </a:rPr>
              <a:t>industry, </a:t>
            </a:r>
            <a:r>
              <a:rPr sz="1650" spc="-70" dirty="0">
                <a:solidFill>
                  <a:srgbClr val="0E4561"/>
                </a:solidFill>
                <a:latin typeface="Verdana"/>
                <a:cs typeface="Verdana"/>
              </a:rPr>
              <a:t>including</a:t>
            </a:r>
            <a:r>
              <a:rPr sz="1650" spc="-8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50" dirty="0">
                <a:solidFill>
                  <a:srgbClr val="0E4561"/>
                </a:solidFill>
                <a:latin typeface="Verdana"/>
                <a:cs typeface="Verdana"/>
              </a:rPr>
              <a:t>financial</a:t>
            </a:r>
            <a:r>
              <a:rPr sz="1650" spc="-8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performance,</a:t>
            </a:r>
            <a:r>
              <a:rPr sz="1650" spc="-7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55" dirty="0">
                <a:solidFill>
                  <a:srgbClr val="0E4561"/>
                </a:solidFill>
                <a:latin typeface="Verdana"/>
                <a:cs typeface="Verdana"/>
              </a:rPr>
              <a:t>audience</a:t>
            </a:r>
            <a:r>
              <a:rPr sz="1650" spc="-80" dirty="0">
                <a:solidFill>
                  <a:srgbClr val="0E4561"/>
                </a:solidFill>
                <a:latin typeface="Verdana"/>
                <a:cs typeface="Verdana"/>
              </a:rPr>
              <a:t> reception, </a:t>
            </a:r>
            <a:r>
              <a:rPr sz="1650" spc="-35" dirty="0">
                <a:solidFill>
                  <a:srgbClr val="0E4561"/>
                </a:solidFill>
                <a:latin typeface="Verdana"/>
                <a:cs typeface="Verdana"/>
              </a:rPr>
              <a:t>and</a:t>
            </a:r>
            <a:r>
              <a:rPr sz="1650" spc="-7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E4561"/>
                </a:solidFill>
                <a:latin typeface="Verdana"/>
                <a:cs typeface="Verdana"/>
              </a:rPr>
              <a:t>market 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trends. </a:t>
            </a:r>
            <a:r>
              <a:rPr sz="1650" spc="-70" dirty="0">
                <a:solidFill>
                  <a:srgbClr val="0E4561"/>
                </a:solidFill>
                <a:latin typeface="Verdana"/>
                <a:cs typeface="Verdana"/>
              </a:rPr>
              <a:t>Our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E4561"/>
                </a:solidFill>
                <a:latin typeface="Verdana"/>
                <a:cs typeface="Verdana"/>
              </a:rPr>
              <a:t>goal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is </a:t>
            </a:r>
            <a:r>
              <a:rPr sz="1650" spc="-55" dirty="0">
                <a:solidFill>
                  <a:srgbClr val="0E4561"/>
                </a:solidFill>
                <a:latin typeface="Verdana"/>
                <a:cs typeface="Verdana"/>
              </a:rPr>
              <a:t>to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equip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stakeholders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with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0E4561"/>
                </a:solidFill>
                <a:latin typeface="Verdana"/>
                <a:cs typeface="Verdana"/>
              </a:rPr>
              <a:t>a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E4561"/>
                </a:solidFill>
                <a:latin typeface="Verdana"/>
                <a:cs typeface="Verdana"/>
              </a:rPr>
              <a:t>comprehensive 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understanding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0E4561"/>
                </a:solidFill>
                <a:latin typeface="Verdana"/>
                <a:cs typeface="Verdana"/>
              </a:rPr>
              <a:t>of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0" dirty="0">
                <a:solidFill>
                  <a:srgbClr val="0E4561"/>
                </a:solidFill>
                <a:latin typeface="Verdana"/>
                <a:cs typeface="Verdana"/>
              </a:rPr>
              <a:t>key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75" dirty="0">
                <a:solidFill>
                  <a:srgbClr val="0E4561"/>
                </a:solidFill>
                <a:latin typeface="Verdana"/>
                <a:cs typeface="Verdana"/>
              </a:rPr>
              <a:t>metrics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35" dirty="0">
                <a:solidFill>
                  <a:srgbClr val="0E4561"/>
                </a:solidFill>
                <a:latin typeface="Verdana"/>
                <a:cs typeface="Verdana"/>
              </a:rPr>
              <a:t>and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trends,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55" dirty="0">
                <a:solidFill>
                  <a:srgbClr val="0E4561"/>
                </a:solidFill>
                <a:latin typeface="Verdana"/>
                <a:cs typeface="Verdana"/>
              </a:rPr>
              <a:t>enabling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90" dirty="0">
                <a:solidFill>
                  <a:srgbClr val="0E4561"/>
                </a:solidFill>
                <a:latin typeface="Verdana"/>
                <a:cs typeface="Verdana"/>
              </a:rPr>
              <a:t>them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55" dirty="0">
                <a:solidFill>
                  <a:srgbClr val="0E4561"/>
                </a:solidFill>
                <a:latin typeface="Verdana"/>
                <a:cs typeface="Verdana"/>
              </a:rPr>
              <a:t>to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0E4561"/>
                </a:solidFill>
                <a:latin typeface="Verdana"/>
                <a:cs typeface="Verdana"/>
              </a:rPr>
              <a:t>make </a:t>
            </a:r>
            <a:r>
              <a:rPr sz="1650" spc="-55" dirty="0">
                <a:solidFill>
                  <a:srgbClr val="0E4561"/>
                </a:solidFill>
                <a:latin typeface="Verdana"/>
                <a:cs typeface="Verdana"/>
              </a:rPr>
              <a:t>informed</a:t>
            </a:r>
            <a:r>
              <a:rPr sz="1650" spc="-10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decisions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75" dirty="0">
                <a:solidFill>
                  <a:srgbClr val="0E4561"/>
                </a:solidFill>
                <a:latin typeface="Verdana"/>
                <a:cs typeface="Verdana"/>
              </a:rPr>
              <a:t>that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70" dirty="0">
                <a:solidFill>
                  <a:srgbClr val="0E4561"/>
                </a:solidFill>
                <a:latin typeface="Verdana"/>
                <a:cs typeface="Verdana"/>
              </a:rPr>
              <a:t>drive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90" dirty="0">
                <a:solidFill>
                  <a:srgbClr val="0E4561"/>
                </a:solidFill>
                <a:latin typeface="Verdana"/>
                <a:cs typeface="Verdana"/>
              </a:rPr>
              <a:t>the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55" dirty="0">
                <a:solidFill>
                  <a:srgbClr val="0E4561"/>
                </a:solidFill>
                <a:latin typeface="Verdana"/>
                <a:cs typeface="Verdana"/>
              </a:rPr>
              <a:t>company's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growth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35" dirty="0">
                <a:solidFill>
                  <a:srgbClr val="0E4561"/>
                </a:solidFill>
                <a:latin typeface="Verdana"/>
                <a:cs typeface="Verdana"/>
              </a:rPr>
              <a:t>and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0E4561"/>
                </a:solidFill>
                <a:latin typeface="Verdana"/>
                <a:cs typeface="Verdana"/>
              </a:rPr>
              <a:t>success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0E4561"/>
                </a:solidFill>
                <a:latin typeface="Verdana"/>
                <a:cs typeface="Verdana"/>
              </a:rPr>
              <a:t>in </a:t>
            </a:r>
            <a:r>
              <a:rPr sz="1650" spc="-90" dirty="0">
                <a:solidFill>
                  <a:srgbClr val="0E4561"/>
                </a:solidFill>
                <a:latin typeface="Verdana"/>
                <a:cs typeface="Verdana"/>
              </a:rPr>
              <a:t>the</a:t>
            </a:r>
            <a:r>
              <a:rPr sz="1650" spc="-10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70" dirty="0">
                <a:solidFill>
                  <a:srgbClr val="0E4561"/>
                </a:solidFill>
                <a:latin typeface="Verdana"/>
                <a:cs typeface="Verdana"/>
              </a:rPr>
              <a:t>competitive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70" dirty="0">
                <a:solidFill>
                  <a:srgbClr val="0E4561"/>
                </a:solidFill>
                <a:latin typeface="Verdana"/>
                <a:cs typeface="Verdana"/>
              </a:rPr>
              <a:t>movie</a:t>
            </a:r>
            <a:r>
              <a:rPr sz="1650" spc="-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E4561"/>
                </a:solidFill>
                <a:latin typeface="Verdana"/>
                <a:cs typeface="Verdana"/>
              </a:rPr>
              <a:t>market.</a:t>
            </a:r>
            <a:endParaRPr sz="1650" dirty="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97879" y="3568974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5830742" y="7838671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8315" y="2481584"/>
            <a:ext cx="229780" cy="2297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7825" y="2479410"/>
            <a:ext cx="229776" cy="2297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9124" y="2481584"/>
            <a:ext cx="229780" cy="2297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9793" y="2481587"/>
            <a:ext cx="229780" cy="22976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50417" y="2481584"/>
            <a:ext cx="229780" cy="229771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839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20" dirty="0"/>
              <a:t>Introduction</a:t>
            </a: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68315" y="8030555"/>
            <a:ext cx="229780" cy="2297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07825" y="8028381"/>
            <a:ext cx="229776" cy="22976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9793" y="8030558"/>
            <a:ext cx="229780" cy="22976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29124" y="8030555"/>
            <a:ext cx="229780" cy="22977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50417" y="8030555"/>
            <a:ext cx="229780" cy="2297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928486" y="15848"/>
            <a:ext cx="7359650" cy="10272395"/>
            <a:chOff x="10928486" y="15848"/>
            <a:chExt cx="7359650" cy="10272395"/>
          </a:xfrm>
        </p:grpSpPr>
        <p:sp>
          <p:nvSpPr>
            <p:cNvPr id="3" name="object 3"/>
            <p:cNvSpPr/>
            <p:nvPr/>
          </p:nvSpPr>
          <p:spPr>
            <a:xfrm>
              <a:off x="14093892" y="15848"/>
              <a:ext cx="4194175" cy="10272395"/>
            </a:xfrm>
            <a:custGeom>
              <a:avLst/>
              <a:gdLst/>
              <a:ahLst/>
              <a:cxnLst/>
              <a:rect l="l" t="t" r="r" b="b"/>
              <a:pathLst>
                <a:path w="4194175" h="10272395">
                  <a:moveTo>
                    <a:pt x="4194106" y="10272284"/>
                  </a:moveTo>
                  <a:lnTo>
                    <a:pt x="0" y="10272284"/>
                  </a:lnTo>
                  <a:lnTo>
                    <a:pt x="0" y="0"/>
                  </a:lnTo>
                  <a:lnTo>
                    <a:pt x="4194106" y="0"/>
                  </a:lnTo>
                  <a:lnTo>
                    <a:pt x="4194106" y="10272284"/>
                  </a:lnTo>
                  <a:close/>
                </a:path>
              </a:pathLst>
            </a:custGeom>
            <a:solidFill>
              <a:srgbClr val="7894A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8486" y="1684924"/>
              <a:ext cx="6334124" cy="7572374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3253761" y="8708531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4">
                <a:moveTo>
                  <a:pt x="130234" y="260466"/>
                </a:moveTo>
                <a:lnTo>
                  <a:pt x="86530" y="253101"/>
                </a:lnTo>
                <a:lnTo>
                  <a:pt x="47851" y="231432"/>
                </a:lnTo>
                <a:lnTo>
                  <a:pt x="18739" y="197993"/>
                </a:lnTo>
                <a:lnTo>
                  <a:pt x="2603" y="156715"/>
                </a:lnTo>
                <a:lnTo>
                  <a:pt x="0" y="131434"/>
                </a:lnTo>
                <a:lnTo>
                  <a:pt x="97" y="125022"/>
                </a:lnTo>
                <a:lnTo>
                  <a:pt x="7232" y="87416"/>
                </a:lnTo>
                <a:lnTo>
                  <a:pt x="25011" y="53482"/>
                </a:lnTo>
                <a:lnTo>
                  <a:pt x="51868" y="26208"/>
                </a:lnTo>
                <a:lnTo>
                  <a:pt x="85523" y="7909"/>
                </a:lnTo>
                <a:lnTo>
                  <a:pt x="123016" y="196"/>
                </a:lnTo>
                <a:lnTo>
                  <a:pt x="129425" y="0"/>
                </a:lnTo>
                <a:lnTo>
                  <a:pt x="135836" y="117"/>
                </a:lnTo>
                <a:lnTo>
                  <a:pt x="173421" y="7367"/>
                </a:lnTo>
                <a:lnTo>
                  <a:pt x="207300" y="25249"/>
                </a:lnTo>
                <a:lnTo>
                  <a:pt x="234491" y="52190"/>
                </a:lnTo>
                <a:lnTo>
                  <a:pt x="252687" y="85901"/>
                </a:lnTo>
                <a:lnTo>
                  <a:pt x="260286" y="123417"/>
                </a:lnTo>
                <a:lnTo>
                  <a:pt x="260463" y="129827"/>
                </a:lnTo>
                <a:lnTo>
                  <a:pt x="260325" y="136238"/>
                </a:lnTo>
                <a:lnTo>
                  <a:pt x="252960" y="173800"/>
                </a:lnTo>
                <a:lnTo>
                  <a:pt x="234974" y="207624"/>
                </a:lnTo>
                <a:lnTo>
                  <a:pt x="207951" y="234733"/>
                </a:lnTo>
                <a:lnTo>
                  <a:pt x="174184" y="252825"/>
                </a:lnTo>
                <a:lnTo>
                  <a:pt x="136645" y="260309"/>
                </a:lnTo>
                <a:lnTo>
                  <a:pt x="130234" y="260466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3662509" y="87109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4">
                <a:moveTo>
                  <a:pt x="131072" y="260466"/>
                </a:moveTo>
                <a:lnTo>
                  <a:pt x="93156" y="255081"/>
                </a:lnTo>
                <a:lnTo>
                  <a:pt x="58447" y="238898"/>
                </a:lnTo>
                <a:lnTo>
                  <a:pt x="29944" y="213321"/>
                </a:lnTo>
                <a:lnTo>
                  <a:pt x="10115" y="180558"/>
                </a:lnTo>
                <a:lnTo>
                  <a:pt x="669" y="143445"/>
                </a:lnTo>
                <a:lnTo>
                  <a:pt x="0" y="130656"/>
                </a:lnTo>
                <a:lnTo>
                  <a:pt x="136" y="124245"/>
                </a:lnTo>
                <a:lnTo>
                  <a:pt x="7497" y="86679"/>
                </a:lnTo>
                <a:lnTo>
                  <a:pt x="25481" y="52850"/>
                </a:lnTo>
                <a:lnTo>
                  <a:pt x="52505" y="25737"/>
                </a:lnTo>
                <a:lnTo>
                  <a:pt x="86274" y="7642"/>
                </a:lnTo>
                <a:lnTo>
                  <a:pt x="123816" y="157"/>
                </a:lnTo>
                <a:lnTo>
                  <a:pt x="130227" y="0"/>
                </a:lnTo>
                <a:lnTo>
                  <a:pt x="136595" y="124"/>
                </a:lnTo>
                <a:lnTo>
                  <a:pt x="179874" y="9625"/>
                </a:lnTo>
                <a:lnTo>
                  <a:pt x="217424" y="33147"/>
                </a:lnTo>
                <a:lnTo>
                  <a:pt x="244864" y="67956"/>
                </a:lnTo>
                <a:lnTo>
                  <a:pt x="258969" y="109976"/>
                </a:lnTo>
                <a:lnTo>
                  <a:pt x="260462" y="128979"/>
                </a:lnTo>
                <a:lnTo>
                  <a:pt x="260367" y="135392"/>
                </a:lnTo>
                <a:lnTo>
                  <a:pt x="253246" y="173004"/>
                </a:lnTo>
                <a:lnTo>
                  <a:pt x="235478" y="206947"/>
                </a:lnTo>
                <a:lnTo>
                  <a:pt x="208628" y="234232"/>
                </a:lnTo>
                <a:lnTo>
                  <a:pt x="174975" y="252543"/>
                </a:lnTo>
                <a:lnTo>
                  <a:pt x="137482" y="260268"/>
                </a:lnTo>
                <a:lnTo>
                  <a:pt x="131072" y="260466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4071668" y="87109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4">
                <a:moveTo>
                  <a:pt x="131072" y="260466"/>
                </a:moveTo>
                <a:lnTo>
                  <a:pt x="93156" y="255081"/>
                </a:lnTo>
                <a:lnTo>
                  <a:pt x="58447" y="238898"/>
                </a:lnTo>
                <a:lnTo>
                  <a:pt x="29944" y="213321"/>
                </a:lnTo>
                <a:lnTo>
                  <a:pt x="10115" y="180558"/>
                </a:lnTo>
                <a:lnTo>
                  <a:pt x="669" y="143445"/>
                </a:lnTo>
                <a:lnTo>
                  <a:pt x="0" y="130656"/>
                </a:lnTo>
                <a:lnTo>
                  <a:pt x="136" y="124245"/>
                </a:lnTo>
                <a:lnTo>
                  <a:pt x="7497" y="86679"/>
                </a:lnTo>
                <a:lnTo>
                  <a:pt x="25481" y="52850"/>
                </a:lnTo>
                <a:lnTo>
                  <a:pt x="52505" y="25737"/>
                </a:lnTo>
                <a:lnTo>
                  <a:pt x="86274" y="7642"/>
                </a:lnTo>
                <a:lnTo>
                  <a:pt x="123816" y="157"/>
                </a:lnTo>
                <a:lnTo>
                  <a:pt x="130227" y="0"/>
                </a:lnTo>
                <a:lnTo>
                  <a:pt x="136595" y="124"/>
                </a:lnTo>
                <a:lnTo>
                  <a:pt x="179874" y="9625"/>
                </a:lnTo>
                <a:lnTo>
                  <a:pt x="217424" y="33147"/>
                </a:lnTo>
                <a:lnTo>
                  <a:pt x="244864" y="67956"/>
                </a:lnTo>
                <a:lnTo>
                  <a:pt x="258969" y="109976"/>
                </a:lnTo>
                <a:lnTo>
                  <a:pt x="260462" y="128979"/>
                </a:lnTo>
                <a:lnTo>
                  <a:pt x="260367" y="135392"/>
                </a:lnTo>
                <a:lnTo>
                  <a:pt x="253245" y="173004"/>
                </a:lnTo>
                <a:lnTo>
                  <a:pt x="235478" y="206947"/>
                </a:lnTo>
                <a:lnTo>
                  <a:pt x="208628" y="234232"/>
                </a:lnTo>
                <a:lnTo>
                  <a:pt x="174975" y="252543"/>
                </a:lnTo>
                <a:lnTo>
                  <a:pt x="137482" y="260268"/>
                </a:lnTo>
                <a:lnTo>
                  <a:pt x="131072" y="260466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4480671" y="87109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4">
                <a:moveTo>
                  <a:pt x="131072" y="260466"/>
                </a:moveTo>
                <a:lnTo>
                  <a:pt x="93156" y="255081"/>
                </a:lnTo>
                <a:lnTo>
                  <a:pt x="58447" y="238898"/>
                </a:lnTo>
                <a:lnTo>
                  <a:pt x="29944" y="213321"/>
                </a:lnTo>
                <a:lnTo>
                  <a:pt x="10115" y="180558"/>
                </a:lnTo>
                <a:lnTo>
                  <a:pt x="669" y="143445"/>
                </a:lnTo>
                <a:lnTo>
                  <a:pt x="0" y="130656"/>
                </a:lnTo>
                <a:lnTo>
                  <a:pt x="136" y="124245"/>
                </a:lnTo>
                <a:lnTo>
                  <a:pt x="7497" y="86679"/>
                </a:lnTo>
                <a:lnTo>
                  <a:pt x="25481" y="52850"/>
                </a:lnTo>
                <a:lnTo>
                  <a:pt x="52505" y="25737"/>
                </a:lnTo>
                <a:lnTo>
                  <a:pt x="86274" y="7642"/>
                </a:lnTo>
                <a:lnTo>
                  <a:pt x="123816" y="157"/>
                </a:lnTo>
                <a:lnTo>
                  <a:pt x="130227" y="0"/>
                </a:lnTo>
                <a:lnTo>
                  <a:pt x="136594" y="127"/>
                </a:lnTo>
                <a:lnTo>
                  <a:pt x="179866" y="9639"/>
                </a:lnTo>
                <a:lnTo>
                  <a:pt x="217409" y="33162"/>
                </a:lnTo>
                <a:lnTo>
                  <a:pt x="244849" y="67966"/>
                </a:lnTo>
                <a:lnTo>
                  <a:pt x="258962" y="109979"/>
                </a:lnTo>
                <a:lnTo>
                  <a:pt x="260462" y="128979"/>
                </a:lnTo>
                <a:lnTo>
                  <a:pt x="260367" y="135392"/>
                </a:lnTo>
                <a:lnTo>
                  <a:pt x="253245" y="173004"/>
                </a:lnTo>
                <a:lnTo>
                  <a:pt x="235478" y="206947"/>
                </a:lnTo>
                <a:lnTo>
                  <a:pt x="208628" y="234232"/>
                </a:lnTo>
                <a:lnTo>
                  <a:pt x="174975" y="252543"/>
                </a:lnTo>
                <a:lnTo>
                  <a:pt x="137482" y="260268"/>
                </a:lnTo>
                <a:lnTo>
                  <a:pt x="131072" y="260466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4889621" y="8710986"/>
            <a:ext cx="260985" cy="260985"/>
          </a:xfrm>
          <a:custGeom>
            <a:avLst/>
            <a:gdLst/>
            <a:ahLst/>
            <a:cxnLst/>
            <a:rect l="l" t="t" r="r" b="b"/>
            <a:pathLst>
              <a:path w="260985" h="260984">
                <a:moveTo>
                  <a:pt x="131072" y="260466"/>
                </a:moveTo>
                <a:lnTo>
                  <a:pt x="93156" y="255081"/>
                </a:lnTo>
                <a:lnTo>
                  <a:pt x="58447" y="238898"/>
                </a:lnTo>
                <a:lnTo>
                  <a:pt x="29944" y="213321"/>
                </a:lnTo>
                <a:lnTo>
                  <a:pt x="10115" y="180558"/>
                </a:lnTo>
                <a:lnTo>
                  <a:pt x="669" y="143445"/>
                </a:lnTo>
                <a:lnTo>
                  <a:pt x="0" y="130656"/>
                </a:lnTo>
                <a:lnTo>
                  <a:pt x="136" y="124245"/>
                </a:lnTo>
                <a:lnTo>
                  <a:pt x="7497" y="86678"/>
                </a:lnTo>
                <a:lnTo>
                  <a:pt x="25481" y="52850"/>
                </a:lnTo>
                <a:lnTo>
                  <a:pt x="52506" y="25737"/>
                </a:lnTo>
                <a:lnTo>
                  <a:pt x="86274" y="7642"/>
                </a:lnTo>
                <a:lnTo>
                  <a:pt x="123816" y="157"/>
                </a:lnTo>
                <a:lnTo>
                  <a:pt x="130227" y="0"/>
                </a:lnTo>
                <a:lnTo>
                  <a:pt x="136595" y="124"/>
                </a:lnTo>
                <a:lnTo>
                  <a:pt x="179874" y="9625"/>
                </a:lnTo>
                <a:lnTo>
                  <a:pt x="217424" y="33147"/>
                </a:lnTo>
                <a:lnTo>
                  <a:pt x="244864" y="67956"/>
                </a:lnTo>
                <a:lnTo>
                  <a:pt x="258969" y="109976"/>
                </a:lnTo>
                <a:lnTo>
                  <a:pt x="260462" y="128979"/>
                </a:lnTo>
                <a:lnTo>
                  <a:pt x="260367" y="135392"/>
                </a:lnTo>
                <a:lnTo>
                  <a:pt x="253245" y="173004"/>
                </a:lnTo>
                <a:lnTo>
                  <a:pt x="235478" y="206947"/>
                </a:lnTo>
                <a:lnTo>
                  <a:pt x="208628" y="234232"/>
                </a:lnTo>
                <a:lnTo>
                  <a:pt x="174975" y="252543"/>
                </a:lnTo>
                <a:lnTo>
                  <a:pt x="137482" y="260268"/>
                </a:lnTo>
                <a:lnTo>
                  <a:pt x="131072" y="260466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720163" y="2496047"/>
            <a:ext cx="33204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0" spc="-45" dirty="0">
                <a:latin typeface="Tahoma"/>
                <a:cs typeface="Tahoma"/>
              </a:rPr>
              <a:t>Problem</a:t>
            </a:r>
            <a:r>
              <a:rPr sz="2800" i="0" spc="-145" dirty="0">
                <a:latin typeface="Tahoma"/>
                <a:cs typeface="Tahoma"/>
              </a:rPr>
              <a:t> </a:t>
            </a:r>
            <a:r>
              <a:rPr sz="2800" i="0" spc="-55" dirty="0">
                <a:latin typeface="Tahoma"/>
                <a:cs typeface="Tahoma"/>
              </a:rPr>
              <a:t>objectives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6000" y="3640024"/>
            <a:ext cx="8737600" cy="2861489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294640" indent="-292100">
              <a:lnSpc>
                <a:spcPct val="100000"/>
              </a:lnSpc>
              <a:spcBef>
                <a:spcPts val="1410"/>
              </a:spcBef>
              <a:buSzPct val="81481"/>
              <a:buAutoNum type="arabicPeriod"/>
              <a:tabLst>
                <a:tab pos="294640" algn="l"/>
              </a:tabLst>
            </a:pPr>
            <a:r>
              <a:rPr sz="2700" spc="-150" dirty="0">
                <a:solidFill>
                  <a:srgbClr val="0E4561"/>
                </a:solidFill>
                <a:latin typeface="Verdana"/>
                <a:cs typeface="Verdana"/>
              </a:rPr>
              <a:t>Identify</a:t>
            </a:r>
            <a:r>
              <a:rPr sz="2700" spc="-1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14" dirty="0">
                <a:solidFill>
                  <a:srgbClr val="0E4561"/>
                </a:solidFill>
                <a:latin typeface="Verdana"/>
                <a:cs typeface="Verdana"/>
              </a:rPr>
              <a:t>types</a:t>
            </a:r>
            <a:r>
              <a:rPr sz="2700" spc="-19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dirty="0">
                <a:solidFill>
                  <a:srgbClr val="0E4561"/>
                </a:solidFill>
                <a:latin typeface="Verdana"/>
                <a:cs typeface="Verdana"/>
              </a:rPr>
              <a:t>of</a:t>
            </a:r>
            <a:r>
              <a:rPr sz="2700" spc="-1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0E4561"/>
                </a:solidFill>
                <a:latin typeface="Verdana"/>
                <a:cs typeface="Verdana"/>
              </a:rPr>
              <a:t>films</a:t>
            </a:r>
            <a:r>
              <a:rPr sz="2700" spc="-19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0E4561"/>
                </a:solidFill>
                <a:latin typeface="Verdana"/>
                <a:cs typeface="Verdana"/>
              </a:rPr>
              <a:t>that</a:t>
            </a:r>
            <a:r>
              <a:rPr sz="2700" spc="-1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80" dirty="0">
                <a:solidFill>
                  <a:srgbClr val="0E4561"/>
                </a:solidFill>
                <a:latin typeface="Verdana"/>
                <a:cs typeface="Verdana"/>
              </a:rPr>
              <a:t>are</a:t>
            </a:r>
            <a:r>
              <a:rPr sz="2700" spc="-19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95" dirty="0">
                <a:solidFill>
                  <a:srgbClr val="0E4561"/>
                </a:solidFill>
                <a:latin typeface="Verdana"/>
                <a:cs typeface="Verdana"/>
              </a:rPr>
              <a:t>performing</a:t>
            </a:r>
            <a:r>
              <a:rPr sz="2700" spc="-1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0E4561"/>
                </a:solidFill>
                <a:latin typeface="Verdana"/>
                <a:cs typeface="Verdana"/>
              </a:rPr>
              <a:t>the</a:t>
            </a:r>
            <a:r>
              <a:rPr sz="2700" spc="-19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0E4561"/>
                </a:solidFill>
                <a:latin typeface="Verdana"/>
                <a:cs typeface="Verdana"/>
              </a:rPr>
              <a:t>best.</a:t>
            </a:r>
            <a:endParaRPr sz="2700" dirty="0">
              <a:latin typeface="Verdana"/>
              <a:cs typeface="Verdana"/>
            </a:endParaRPr>
          </a:p>
          <a:p>
            <a:pPr marL="357505" indent="-344805">
              <a:lnSpc>
                <a:spcPct val="100000"/>
              </a:lnSpc>
              <a:spcBef>
                <a:spcPts val="1315"/>
              </a:spcBef>
              <a:buSzPct val="81481"/>
              <a:buAutoNum type="arabicPeriod"/>
              <a:tabLst>
                <a:tab pos="357505" algn="l"/>
              </a:tabLst>
            </a:pPr>
            <a:r>
              <a:rPr sz="2700" spc="-135" dirty="0">
                <a:solidFill>
                  <a:srgbClr val="0E4561"/>
                </a:solidFill>
                <a:latin typeface="Verdana"/>
                <a:cs typeface="Verdana"/>
              </a:rPr>
              <a:t>Explore</a:t>
            </a:r>
            <a:r>
              <a:rPr sz="2700" spc="-1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75" dirty="0">
                <a:solidFill>
                  <a:srgbClr val="0E4561"/>
                </a:solidFill>
                <a:latin typeface="Verdana"/>
                <a:cs typeface="Verdana"/>
              </a:rPr>
              <a:t>and</a:t>
            </a:r>
            <a:r>
              <a:rPr sz="2700" spc="-1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85" dirty="0">
                <a:solidFill>
                  <a:srgbClr val="0E4561"/>
                </a:solidFill>
                <a:latin typeface="Verdana"/>
                <a:cs typeface="Verdana"/>
              </a:rPr>
              <a:t>analyze</a:t>
            </a:r>
            <a:r>
              <a:rPr sz="2700" spc="-1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0E4561"/>
                </a:solidFill>
                <a:latin typeface="Verdana"/>
                <a:cs typeface="Verdana"/>
              </a:rPr>
              <a:t>current</a:t>
            </a:r>
            <a:r>
              <a:rPr sz="2700" spc="-1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0E4561"/>
                </a:solidFill>
                <a:latin typeface="Verdana"/>
                <a:cs typeface="Verdana"/>
              </a:rPr>
              <a:t>box</a:t>
            </a:r>
            <a:r>
              <a:rPr sz="2700" spc="-19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50" dirty="0">
                <a:solidFill>
                  <a:srgbClr val="0E4561"/>
                </a:solidFill>
                <a:latin typeface="Verdana"/>
                <a:cs typeface="Verdana"/>
              </a:rPr>
              <a:t>office</a:t>
            </a:r>
            <a:r>
              <a:rPr sz="2700" spc="-19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0" dirty="0">
                <a:solidFill>
                  <a:srgbClr val="0E4561"/>
                </a:solidFill>
                <a:latin typeface="Verdana"/>
                <a:cs typeface="Verdana"/>
              </a:rPr>
              <a:t>trends.</a:t>
            </a:r>
            <a:endParaRPr sz="2700" dirty="0">
              <a:latin typeface="Verdana"/>
              <a:cs typeface="Verdana"/>
            </a:endParaRPr>
          </a:p>
          <a:p>
            <a:pPr marL="12700" marR="142875" indent="334645">
              <a:lnSpc>
                <a:spcPct val="140500"/>
              </a:lnSpc>
              <a:buSzPct val="81481"/>
              <a:buAutoNum type="arabicPeriod"/>
              <a:tabLst>
                <a:tab pos="347345" algn="l"/>
              </a:tabLst>
            </a:pPr>
            <a:r>
              <a:rPr sz="2700" spc="-150" dirty="0">
                <a:solidFill>
                  <a:srgbClr val="0E4561"/>
                </a:solidFill>
                <a:latin typeface="Verdana"/>
                <a:cs typeface="Verdana"/>
              </a:rPr>
              <a:t>Identify</a:t>
            </a:r>
            <a:r>
              <a:rPr sz="2700" spc="-19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70" dirty="0">
                <a:solidFill>
                  <a:srgbClr val="0E4561"/>
                </a:solidFill>
                <a:latin typeface="Verdana"/>
                <a:cs typeface="Verdana"/>
              </a:rPr>
              <a:t>factors</a:t>
            </a:r>
            <a:r>
              <a:rPr sz="2700" spc="-18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25" dirty="0">
                <a:solidFill>
                  <a:srgbClr val="0E4561"/>
                </a:solidFill>
                <a:latin typeface="Verdana"/>
                <a:cs typeface="Verdana"/>
              </a:rPr>
              <a:t>that</a:t>
            </a:r>
            <a:r>
              <a:rPr sz="2700" spc="-18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0E4561"/>
                </a:solidFill>
                <a:latin typeface="Verdana"/>
                <a:cs typeface="Verdana"/>
              </a:rPr>
              <a:t>contribute</a:t>
            </a:r>
            <a:r>
              <a:rPr sz="2700" spc="-19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90" dirty="0">
                <a:solidFill>
                  <a:srgbClr val="0E4561"/>
                </a:solidFill>
                <a:latin typeface="Verdana"/>
                <a:cs typeface="Verdana"/>
              </a:rPr>
              <a:t>to</a:t>
            </a:r>
            <a:r>
              <a:rPr sz="2700" spc="-18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45" dirty="0">
                <a:solidFill>
                  <a:srgbClr val="0E4561"/>
                </a:solidFill>
                <a:latin typeface="Verdana"/>
                <a:cs typeface="Verdana"/>
              </a:rPr>
              <a:t>the</a:t>
            </a:r>
            <a:r>
              <a:rPr sz="2700" spc="-18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20" dirty="0">
                <a:solidFill>
                  <a:srgbClr val="0E4561"/>
                </a:solidFill>
                <a:latin typeface="Verdana"/>
                <a:cs typeface="Verdana"/>
              </a:rPr>
              <a:t>success</a:t>
            </a:r>
            <a:r>
              <a:rPr sz="2700" spc="-19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dirty="0">
                <a:solidFill>
                  <a:srgbClr val="0E4561"/>
                </a:solidFill>
                <a:latin typeface="Verdana"/>
                <a:cs typeface="Verdana"/>
              </a:rPr>
              <a:t>of</a:t>
            </a:r>
            <a:r>
              <a:rPr sz="2700" spc="-18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50" dirty="0">
                <a:solidFill>
                  <a:srgbClr val="0E4561"/>
                </a:solidFill>
                <a:latin typeface="Verdana"/>
                <a:cs typeface="Verdana"/>
              </a:rPr>
              <a:t>a</a:t>
            </a:r>
            <a:endParaRPr lang="en-US" sz="2700" spc="-50" dirty="0">
              <a:solidFill>
                <a:srgbClr val="0E4561"/>
              </a:solidFill>
              <a:latin typeface="Verdana"/>
              <a:cs typeface="Verdana"/>
            </a:endParaRPr>
          </a:p>
          <a:p>
            <a:pPr marL="12700" marR="142875">
              <a:lnSpc>
                <a:spcPct val="140500"/>
              </a:lnSpc>
              <a:buSzPct val="81481"/>
              <a:tabLst>
                <a:tab pos="347345" algn="l"/>
              </a:tabLst>
            </a:pPr>
            <a:r>
              <a:rPr lang="en-US" sz="2700" spc="-30" dirty="0">
                <a:solidFill>
                  <a:srgbClr val="0E4561"/>
                </a:solidFill>
                <a:latin typeface="Verdana"/>
                <a:cs typeface="Verdana"/>
              </a:rPr>
              <a:t>   </a:t>
            </a:r>
            <a:r>
              <a:rPr sz="2700" spc="-30" dirty="0">
                <a:solidFill>
                  <a:srgbClr val="0E4561"/>
                </a:solidFill>
                <a:latin typeface="Verdana"/>
                <a:cs typeface="Verdana"/>
              </a:rPr>
              <a:t>movie.</a:t>
            </a:r>
            <a:endParaRPr lang="en-US" sz="2700" spc="-30" dirty="0">
              <a:solidFill>
                <a:srgbClr val="0E4561"/>
              </a:solidFill>
              <a:latin typeface="Verdana"/>
              <a:cs typeface="Verdana"/>
            </a:endParaRPr>
          </a:p>
          <a:p>
            <a:pPr marL="12700" marR="142875">
              <a:lnSpc>
                <a:spcPct val="140500"/>
              </a:lnSpc>
              <a:buSzPct val="81481"/>
              <a:tabLst>
                <a:tab pos="347345" algn="l"/>
              </a:tabLst>
            </a:pPr>
            <a:r>
              <a:rPr lang="en-US" sz="2700" spc="-30" dirty="0">
                <a:solidFill>
                  <a:srgbClr val="0E4561"/>
                </a:solidFill>
                <a:latin typeface="Verdana"/>
                <a:cs typeface="Verdana"/>
              </a:rPr>
              <a:t>4.</a:t>
            </a:r>
            <a:r>
              <a:rPr sz="2700" spc="-95" dirty="0">
                <a:solidFill>
                  <a:srgbClr val="0E4561"/>
                </a:solidFill>
                <a:latin typeface="Verdana"/>
                <a:cs typeface="Verdana"/>
              </a:rPr>
              <a:t>Translate</a:t>
            </a:r>
            <a:r>
              <a:rPr sz="2700" spc="-180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10" dirty="0">
                <a:solidFill>
                  <a:srgbClr val="0E4561"/>
                </a:solidFill>
                <a:latin typeface="Verdana"/>
                <a:cs typeface="Verdana"/>
              </a:rPr>
              <a:t>findings</a:t>
            </a:r>
            <a:r>
              <a:rPr sz="2700" spc="-17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130" dirty="0">
                <a:solidFill>
                  <a:srgbClr val="0E4561"/>
                </a:solidFill>
                <a:latin typeface="Verdana"/>
                <a:cs typeface="Verdana"/>
              </a:rPr>
              <a:t>into</a:t>
            </a:r>
            <a:r>
              <a:rPr sz="2700" spc="-17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85" dirty="0">
                <a:solidFill>
                  <a:srgbClr val="0E4561"/>
                </a:solidFill>
                <a:latin typeface="Verdana"/>
                <a:cs typeface="Verdana"/>
              </a:rPr>
              <a:t>actionable</a:t>
            </a:r>
            <a:r>
              <a:rPr sz="2700" spc="-175" dirty="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700" spc="-60" dirty="0">
                <a:solidFill>
                  <a:srgbClr val="0E4561"/>
                </a:solidFill>
                <a:latin typeface="Verdana"/>
                <a:cs typeface="Verdana"/>
              </a:rPr>
              <a:t>insights.</a:t>
            </a:r>
            <a:endParaRPr sz="2700" dirty="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78690" y="8273160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700" y="8173344"/>
            <a:ext cx="16230600" cy="0"/>
          </a:xfrm>
          <a:custGeom>
            <a:avLst/>
            <a:gdLst/>
            <a:ahLst/>
            <a:cxnLst/>
            <a:rect l="l" t="t" r="r" b="b"/>
            <a:pathLst>
              <a:path w="16230600">
                <a:moveTo>
                  <a:pt x="0" y="0"/>
                </a:moveTo>
                <a:lnTo>
                  <a:pt x="16230598" y="0"/>
                </a:lnTo>
              </a:path>
            </a:pathLst>
          </a:custGeom>
          <a:ln w="57149">
            <a:solidFill>
              <a:srgbClr val="7894A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50686" y="8579559"/>
            <a:ext cx="229776" cy="2297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1177" y="8581734"/>
            <a:ext cx="229780" cy="2297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71985" y="8581734"/>
            <a:ext cx="229780" cy="2297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2654" y="8581737"/>
            <a:ext cx="229780" cy="2297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3278" y="8581734"/>
            <a:ext cx="229780" cy="2297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91225" y="2500353"/>
            <a:ext cx="88375" cy="883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91225" y="2889858"/>
            <a:ext cx="88375" cy="883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91225" y="3668869"/>
            <a:ext cx="88375" cy="883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91225" y="4058374"/>
            <a:ext cx="88375" cy="883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91225" y="4837384"/>
            <a:ext cx="88375" cy="883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91225" y="5226890"/>
            <a:ext cx="88375" cy="883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91225" y="6005900"/>
            <a:ext cx="88375" cy="883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91225" y="6395405"/>
            <a:ext cx="88375" cy="8837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989955" y="1893791"/>
            <a:ext cx="10513695" cy="5752537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21615" indent="-219075">
              <a:lnSpc>
                <a:spcPct val="100000"/>
              </a:lnSpc>
              <a:spcBef>
                <a:spcPts val="525"/>
              </a:spcBef>
              <a:buSzPct val="97727"/>
              <a:buFont typeface="Cambria"/>
              <a:buAutoNum type="arabicPeriod"/>
              <a:tabLst>
                <a:tab pos="221615" algn="l"/>
              </a:tabLst>
            </a:pPr>
            <a:r>
              <a:rPr sz="2800" b="1" i="1" spc="-21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Top-</a:t>
            </a:r>
            <a:r>
              <a:rPr sz="2800" b="1" i="1" spc="-254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Performing</a:t>
            </a:r>
            <a:r>
              <a:rPr sz="2800" b="1" i="1" spc="13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i="1" spc="-3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Films:</a:t>
            </a:r>
            <a:endParaRPr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695960" marR="3708400">
              <a:lnSpc>
                <a:spcPct val="116199"/>
              </a:lnSpc>
            </a:pPr>
            <a:r>
              <a:rPr sz="2800" i="1" spc="-21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Characteristics: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0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Traits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29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contributing</a:t>
            </a:r>
            <a:r>
              <a:rPr sz="2800" i="1" spc="8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29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to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high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3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box</a:t>
            </a:r>
            <a:r>
              <a:rPr sz="2800" i="1" spc="8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04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office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gross. </a:t>
            </a:r>
            <a:r>
              <a:rPr sz="2800" i="1" spc="-20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Financial</a:t>
            </a:r>
            <a:r>
              <a:rPr sz="2800" i="1" spc="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3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Success: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2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Movies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2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with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54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greatest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0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financial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success.</a:t>
            </a:r>
            <a:endParaRPr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21615" indent="-219075">
              <a:lnSpc>
                <a:spcPct val="100000"/>
              </a:lnSpc>
              <a:spcBef>
                <a:spcPts val="425"/>
              </a:spcBef>
              <a:buSzPct val="97727"/>
              <a:buFont typeface="Cambria"/>
              <a:buAutoNum type="arabicPeriod" startAt="2"/>
              <a:tabLst>
                <a:tab pos="221615" algn="l"/>
              </a:tabLst>
            </a:pPr>
            <a:r>
              <a:rPr sz="2800" b="1" i="1" spc="-24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Popular</a:t>
            </a:r>
            <a:r>
              <a:rPr sz="2800" b="1" i="1" spc="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i="1" spc="-2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sz="2800" b="1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i="1" spc="-22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Successful</a:t>
            </a:r>
            <a:r>
              <a:rPr sz="2800" b="1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i="1" spc="-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Genres:</a:t>
            </a:r>
            <a:endParaRPr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695960">
              <a:lnSpc>
                <a:spcPct val="100000"/>
              </a:lnSpc>
              <a:spcBef>
                <a:spcPts val="430"/>
              </a:spcBef>
            </a:pPr>
            <a:r>
              <a:rPr sz="2800" i="1" spc="-23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Trends:</a:t>
            </a:r>
            <a:r>
              <a:rPr sz="2800" i="1" spc="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4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Popular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4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successful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30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genres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4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over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1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time.</a:t>
            </a:r>
            <a:endParaRPr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695960">
              <a:lnSpc>
                <a:spcPct val="100000"/>
              </a:lnSpc>
              <a:spcBef>
                <a:spcPts val="425"/>
              </a:spcBef>
            </a:pPr>
            <a:r>
              <a:rPr sz="2800" i="1" spc="-229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Audience</a:t>
            </a:r>
            <a:r>
              <a:rPr sz="2800" i="1" spc="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5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Preferences: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19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Content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2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that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resonates</a:t>
            </a:r>
            <a:r>
              <a:rPr sz="2800" i="1" spc="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2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with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54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target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6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audiences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8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based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on</a:t>
            </a:r>
            <a:r>
              <a:rPr sz="2800" i="1" spc="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5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ratings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6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and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18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reviews.</a:t>
            </a:r>
            <a:endParaRPr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21615" indent="-219075">
              <a:lnSpc>
                <a:spcPct val="100000"/>
              </a:lnSpc>
              <a:spcBef>
                <a:spcPts val="430"/>
              </a:spcBef>
              <a:buSzPct val="97727"/>
              <a:buFont typeface="Cambria"/>
              <a:buAutoNum type="arabicPeriod" startAt="3"/>
              <a:tabLst>
                <a:tab pos="221615" algn="l"/>
              </a:tabLst>
            </a:pPr>
            <a:r>
              <a:rPr sz="2800" b="1" i="1" spc="-25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Impact</a:t>
            </a:r>
            <a:r>
              <a:rPr sz="2800" b="1" i="1" spc="5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i="1" spc="-21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</a:t>
            </a:r>
            <a:r>
              <a:rPr sz="2800" b="1" i="1" spc="5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i="1" spc="-254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sz="2800" b="1" i="1" spc="5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i="1" spc="-2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on</a:t>
            </a:r>
            <a:r>
              <a:rPr sz="2800" b="1" i="1" spc="5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b="1" i="1" spc="-8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Revenue:</a:t>
            </a:r>
            <a:endParaRPr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695960">
              <a:lnSpc>
                <a:spcPct val="100000"/>
              </a:lnSpc>
              <a:spcBef>
                <a:spcPts val="425"/>
              </a:spcBef>
            </a:pPr>
            <a:r>
              <a:rPr sz="2800" i="1" spc="-254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sz="2800" i="1" spc="5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15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vs.</a:t>
            </a:r>
            <a:r>
              <a:rPr sz="2800" i="1" spc="5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2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Revenue:</a:t>
            </a:r>
            <a:r>
              <a:rPr sz="2800" i="1" spc="5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29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How</a:t>
            </a:r>
            <a:r>
              <a:rPr sz="2800" i="1" spc="5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54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movie</a:t>
            </a:r>
            <a:r>
              <a:rPr sz="2800" i="1" spc="5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budgets</a:t>
            </a:r>
            <a:r>
              <a:rPr sz="2800" i="1" spc="5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1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affect</a:t>
            </a:r>
            <a:r>
              <a:rPr sz="2800" i="1" spc="6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3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box</a:t>
            </a:r>
            <a:r>
              <a:rPr sz="2800" i="1" spc="5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04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office</a:t>
            </a:r>
            <a:r>
              <a:rPr sz="2800" i="1" spc="5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8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revenue.</a:t>
            </a:r>
            <a:endParaRPr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695960">
              <a:lnSpc>
                <a:spcPct val="100000"/>
              </a:lnSpc>
              <a:spcBef>
                <a:spcPts val="425"/>
              </a:spcBef>
            </a:pPr>
            <a:r>
              <a:rPr sz="2800" i="1" spc="-1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Profitability: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15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Can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54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smaller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1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films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9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be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4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profitable?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19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Identifying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6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54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optimal</a:t>
            </a:r>
            <a:r>
              <a:rPr sz="2800" i="1" spc="70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2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budget</a:t>
            </a:r>
            <a:r>
              <a:rPr sz="2800" i="1" spc="7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2800" i="1" spc="-45" dirty="0">
                <a:solidFill>
                  <a:srgbClr val="0E456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range.</a:t>
            </a:r>
            <a:endParaRPr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748976" y="1986577"/>
            <a:ext cx="4505921" cy="5295899"/>
          </a:xfrm>
          <a:prstGeom prst="rect">
            <a:avLst/>
          </a:prstGeom>
        </p:spPr>
      </p:pic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1362713" y="688959"/>
            <a:ext cx="9497060" cy="7829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50" spc="-90" dirty="0"/>
              <a:t>DATA</a:t>
            </a:r>
            <a:r>
              <a:rPr sz="4950" spc="-185" dirty="0"/>
              <a:t> </a:t>
            </a:r>
            <a:r>
              <a:rPr sz="4950" spc="-100" dirty="0"/>
              <a:t>QUESTION</a:t>
            </a:r>
            <a:r>
              <a:rPr sz="4950" spc="-170" dirty="0"/>
              <a:t> </a:t>
            </a:r>
            <a:r>
              <a:rPr sz="4950" spc="-35" dirty="0"/>
              <a:t>TO</a:t>
            </a:r>
            <a:r>
              <a:rPr sz="4950" spc="-195" dirty="0"/>
              <a:t> </a:t>
            </a:r>
            <a:r>
              <a:rPr sz="4950" spc="-150" dirty="0"/>
              <a:t>BE</a:t>
            </a:r>
            <a:r>
              <a:rPr sz="4950" spc="-125" dirty="0"/>
              <a:t> </a:t>
            </a:r>
            <a:r>
              <a:rPr sz="4950" spc="-95" dirty="0"/>
              <a:t>ANSWERED</a:t>
            </a:r>
            <a:endParaRPr sz="4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9175" y="8173344"/>
            <a:ext cx="16230600" cy="0"/>
          </a:xfrm>
          <a:custGeom>
            <a:avLst/>
            <a:gdLst/>
            <a:ahLst/>
            <a:cxnLst/>
            <a:rect l="l" t="t" r="r" b="b"/>
            <a:pathLst>
              <a:path w="16230600">
                <a:moveTo>
                  <a:pt x="0" y="0"/>
                </a:moveTo>
                <a:lnTo>
                  <a:pt x="16230598" y="0"/>
                </a:lnTo>
              </a:path>
            </a:pathLst>
          </a:custGeom>
          <a:ln w="57149">
            <a:solidFill>
              <a:srgbClr val="7894A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0686" y="8579559"/>
            <a:ext cx="229776" cy="2297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11177" y="8581734"/>
            <a:ext cx="229780" cy="2297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1985" y="8581734"/>
            <a:ext cx="229780" cy="2297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2654" y="8581737"/>
            <a:ext cx="229780" cy="2297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3278" y="8581734"/>
            <a:ext cx="229780" cy="2297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1977899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2368424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3149474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3539999"/>
            <a:ext cx="85725" cy="857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4321049"/>
            <a:ext cx="85725" cy="857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4711574"/>
            <a:ext cx="85725" cy="857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5492624"/>
            <a:ext cx="85725" cy="857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5883149"/>
            <a:ext cx="85725" cy="857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6664198"/>
            <a:ext cx="85725" cy="857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76349" y="7054723"/>
            <a:ext cx="85725" cy="857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16303" y="1377824"/>
            <a:ext cx="6286499" cy="5286374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1608483" y="266144"/>
            <a:ext cx="4192904" cy="7829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950" spc="-90" dirty="0"/>
              <a:t>DATA</a:t>
            </a:r>
            <a:r>
              <a:rPr sz="4950" spc="-180" dirty="0"/>
              <a:t> </a:t>
            </a:r>
            <a:r>
              <a:rPr sz="4950" spc="-45" dirty="0"/>
              <a:t>SOURCES</a:t>
            </a:r>
            <a:endParaRPr sz="49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E7424B-061D-A41B-AC0D-5F033C6D6C94}"/>
              </a:ext>
            </a:extLst>
          </p:cNvPr>
          <p:cNvSpPr txBox="1"/>
          <p:nvPr/>
        </p:nvSpPr>
        <p:spPr>
          <a:xfrm>
            <a:off x="1447799" y="1475495"/>
            <a:ext cx="9668503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1.Box Office Mojo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Tracks box office revenue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Analyzes financial performance of films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2. IMDb (Internet Movie Database)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Provides info on movies, TV shows, and entertainment industry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Includes cast/crew, plot summaries, reviews, and ratings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3.Rotten Tomatoes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Aggregates critic and audience reviews for movies and TV  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Measures overall reception via percentage scores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4.The Movie DB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TMDb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User-driven database for movies, TV shows, and celebrities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Offers cast/crew info, plot details, ratings, and reviews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5.The Numbers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Provides detailed box office and financial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budgets, home video sales, and industry statistics</a:t>
            </a:r>
          </a:p>
          <a:p>
            <a:endParaRPr lang="en-US"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B4312393-88B8-AD09-4031-01D20A686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95320" y="8635551"/>
            <a:ext cx="12677140" cy="0"/>
          </a:xfrm>
          <a:custGeom>
            <a:avLst/>
            <a:gdLst/>
            <a:ahLst/>
            <a:cxnLst/>
            <a:rect l="l" t="t" r="r" b="b"/>
            <a:pathLst>
              <a:path w="12677140">
                <a:moveTo>
                  <a:pt x="0" y="0"/>
                </a:moveTo>
                <a:lnTo>
                  <a:pt x="12676715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68509" y="883262"/>
            <a:ext cx="9174480" cy="6108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800" i="0">
                <a:latin typeface="Tahoma"/>
                <a:cs typeface="Tahoma"/>
              </a:rPr>
              <a:t>Data</a:t>
            </a:r>
            <a:r>
              <a:rPr sz="3800" i="0" spc="-85">
                <a:latin typeface="Tahoma"/>
                <a:cs typeface="Tahoma"/>
              </a:rPr>
              <a:t> </a:t>
            </a:r>
            <a:r>
              <a:rPr sz="3800" i="0" spc="-90">
                <a:latin typeface="Tahoma"/>
                <a:cs typeface="Tahoma"/>
              </a:rPr>
              <a:t>Exploration</a:t>
            </a:r>
            <a:r>
              <a:rPr sz="3800" i="0" spc="-80">
                <a:latin typeface="Tahoma"/>
                <a:cs typeface="Tahoma"/>
              </a:rPr>
              <a:t> </a:t>
            </a:r>
            <a:r>
              <a:rPr sz="3800" i="0">
                <a:latin typeface="Tahoma"/>
                <a:cs typeface="Tahoma"/>
              </a:rPr>
              <a:t>and</a:t>
            </a:r>
            <a:r>
              <a:rPr sz="3800" i="0" spc="-80">
                <a:latin typeface="Tahoma"/>
                <a:cs typeface="Tahoma"/>
              </a:rPr>
              <a:t> Cleaning </a:t>
            </a:r>
            <a:r>
              <a:rPr sz="3800" i="0" spc="-10">
                <a:latin typeface="Tahoma"/>
                <a:cs typeface="Tahoma"/>
              </a:rPr>
              <a:t>Process</a:t>
            </a:r>
            <a:endParaRPr sz="3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859" y="2526458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1344" y="3965242"/>
            <a:ext cx="102189" cy="10218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498356" y="4452965"/>
            <a:ext cx="93345" cy="93345"/>
          </a:xfrm>
          <a:custGeom>
            <a:avLst/>
            <a:gdLst/>
            <a:ahLst/>
            <a:cxnLst/>
            <a:rect l="l" t="t" r="r" b="b"/>
            <a:pathLst>
              <a:path w="93344" h="93345">
                <a:moveTo>
                  <a:pt x="92899" y="92899"/>
                </a:moveTo>
                <a:lnTo>
                  <a:pt x="0" y="92899"/>
                </a:lnTo>
                <a:lnTo>
                  <a:pt x="0" y="0"/>
                </a:lnTo>
                <a:lnTo>
                  <a:pt x="92899" y="0"/>
                </a:lnTo>
                <a:lnTo>
                  <a:pt x="92899" y="92899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01344" y="4931397"/>
            <a:ext cx="102189" cy="10218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498356" y="5419119"/>
            <a:ext cx="93345" cy="93345"/>
          </a:xfrm>
          <a:custGeom>
            <a:avLst/>
            <a:gdLst/>
            <a:ahLst/>
            <a:cxnLst/>
            <a:rect l="l" t="t" r="r" b="b"/>
            <a:pathLst>
              <a:path w="93344" h="93345">
                <a:moveTo>
                  <a:pt x="92899" y="92899"/>
                </a:moveTo>
                <a:lnTo>
                  <a:pt x="0" y="92899"/>
                </a:lnTo>
                <a:lnTo>
                  <a:pt x="0" y="0"/>
                </a:lnTo>
                <a:lnTo>
                  <a:pt x="92899" y="0"/>
                </a:lnTo>
                <a:lnTo>
                  <a:pt x="92899" y="92899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01344" y="5897551"/>
            <a:ext cx="102189" cy="10218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498356" y="6385273"/>
            <a:ext cx="93345" cy="93345"/>
          </a:xfrm>
          <a:custGeom>
            <a:avLst/>
            <a:gdLst/>
            <a:ahLst/>
            <a:cxnLst/>
            <a:rect l="l" t="t" r="r" b="b"/>
            <a:pathLst>
              <a:path w="93344" h="93345">
                <a:moveTo>
                  <a:pt x="92899" y="92899"/>
                </a:moveTo>
                <a:lnTo>
                  <a:pt x="0" y="92899"/>
                </a:lnTo>
                <a:lnTo>
                  <a:pt x="0" y="0"/>
                </a:lnTo>
                <a:lnTo>
                  <a:pt x="92899" y="0"/>
                </a:lnTo>
                <a:lnTo>
                  <a:pt x="92899" y="92899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01344" y="6863705"/>
            <a:ext cx="102189" cy="102189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498356" y="7351428"/>
            <a:ext cx="93345" cy="93345"/>
          </a:xfrm>
          <a:custGeom>
            <a:avLst/>
            <a:gdLst/>
            <a:ahLst/>
            <a:cxnLst/>
            <a:rect l="l" t="t" r="r" b="b"/>
            <a:pathLst>
              <a:path w="93344" h="93345">
                <a:moveTo>
                  <a:pt x="92899" y="92899"/>
                </a:moveTo>
                <a:lnTo>
                  <a:pt x="0" y="92899"/>
                </a:lnTo>
                <a:lnTo>
                  <a:pt x="0" y="0"/>
                </a:lnTo>
                <a:lnTo>
                  <a:pt x="92899" y="0"/>
                </a:lnTo>
                <a:lnTo>
                  <a:pt x="92899" y="92899"/>
                </a:lnTo>
                <a:close/>
              </a:path>
            </a:pathLst>
          </a:custGeom>
          <a:solidFill>
            <a:srgbClr val="0E45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69992" y="1706382"/>
            <a:ext cx="12167235" cy="585470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305"/>
              </a:spcBef>
            </a:pPr>
            <a:r>
              <a:rPr sz="2300" spc="-80">
                <a:solidFill>
                  <a:srgbClr val="0E4561"/>
                </a:solidFill>
                <a:latin typeface="Verdana"/>
                <a:cs typeface="Verdana"/>
              </a:rPr>
              <a:t>Familiarizing</a:t>
            </a:r>
            <a:r>
              <a:rPr sz="2300" spc="-15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300" spc="-135">
                <a:solidFill>
                  <a:srgbClr val="0E4561"/>
                </a:solidFill>
                <a:latin typeface="Verdana"/>
                <a:cs typeface="Verdana"/>
              </a:rPr>
              <a:t>with</a:t>
            </a:r>
            <a:r>
              <a:rPr sz="2300" spc="-15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300" spc="-114">
                <a:solidFill>
                  <a:srgbClr val="0E4561"/>
                </a:solidFill>
                <a:latin typeface="Verdana"/>
                <a:cs typeface="Verdana"/>
              </a:rPr>
              <a:t>the</a:t>
            </a:r>
            <a:r>
              <a:rPr sz="230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300" spc="-25">
                <a:solidFill>
                  <a:srgbClr val="0E4561"/>
                </a:solidFill>
                <a:latin typeface="Verdana"/>
                <a:cs typeface="Verdana"/>
              </a:rPr>
              <a:t>Datasets:</a:t>
            </a:r>
            <a:endParaRPr sz="2300">
              <a:latin typeface="Verdana"/>
              <a:cs typeface="Verdana"/>
            </a:endParaRPr>
          </a:p>
          <a:p>
            <a:pPr marL="615950">
              <a:lnSpc>
                <a:spcPct val="100000"/>
              </a:lnSpc>
              <a:spcBef>
                <a:spcPts val="1215"/>
              </a:spcBef>
            </a:pPr>
            <a:r>
              <a:rPr sz="2300" spc="-90">
                <a:solidFill>
                  <a:srgbClr val="0E4561"/>
                </a:solidFill>
                <a:latin typeface="Verdana"/>
                <a:cs typeface="Verdana"/>
              </a:rPr>
              <a:t>Explored</a:t>
            </a:r>
            <a:r>
              <a:rPr sz="2300" spc="-15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300" spc="-90">
                <a:solidFill>
                  <a:srgbClr val="0E4561"/>
                </a:solidFill>
                <a:latin typeface="Verdana"/>
                <a:cs typeface="Verdana"/>
              </a:rPr>
              <a:t>various</a:t>
            </a:r>
            <a:r>
              <a:rPr sz="230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300" spc="-70">
                <a:solidFill>
                  <a:srgbClr val="0E4561"/>
                </a:solidFill>
                <a:latin typeface="Verdana"/>
                <a:cs typeface="Verdana"/>
              </a:rPr>
              <a:t>datasets</a:t>
            </a:r>
            <a:r>
              <a:rPr sz="230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300" spc="-45">
                <a:solidFill>
                  <a:srgbClr val="0E4561"/>
                </a:solidFill>
                <a:latin typeface="Verdana"/>
                <a:cs typeface="Verdana"/>
              </a:rPr>
              <a:t>and</a:t>
            </a:r>
            <a:r>
              <a:rPr sz="230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300" spc="-55">
                <a:solidFill>
                  <a:srgbClr val="0E4561"/>
                </a:solidFill>
                <a:latin typeface="Verdana"/>
                <a:cs typeface="Verdana"/>
              </a:rPr>
              <a:t>analyzed</a:t>
            </a:r>
            <a:r>
              <a:rPr sz="2300" spc="-15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300" spc="-110">
                <a:solidFill>
                  <a:srgbClr val="0E4561"/>
                </a:solidFill>
                <a:latin typeface="Verdana"/>
                <a:cs typeface="Verdana"/>
              </a:rPr>
              <a:t>their</a:t>
            </a:r>
            <a:r>
              <a:rPr sz="230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300" spc="-10">
                <a:solidFill>
                  <a:srgbClr val="0E4561"/>
                </a:solidFill>
                <a:latin typeface="Verdana"/>
                <a:cs typeface="Verdana"/>
              </a:rPr>
              <a:t>columns.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850" b="1">
                <a:solidFill>
                  <a:srgbClr val="0E4561"/>
                </a:solidFill>
                <a:latin typeface="Tahoma"/>
                <a:cs typeface="Tahoma"/>
              </a:rPr>
              <a:t>Data</a:t>
            </a:r>
            <a:r>
              <a:rPr sz="2850" b="1" spc="-65">
                <a:solidFill>
                  <a:srgbClr val="0E4561"/>
                </a:solidFill>
                <a:latin typeface="Tahoma"/>
                <a:cs typeface="Tahoma"/>
              </a:rPr>
              <a:t> </a:t>
            </a:r>
            <a:r>
              <a:rPr sz="2850" b="1" spc="-80">
                <a:solidFill>
                  <a:srgbClr val="0E4561"/>
                </a:solidFill>
                <a:latin typeface="Tahoma"/>
                <a:cs typeface="Tahoma"/>
              </a:rPr>
              <a:t>Cleaning</a:t>
            </a:r>
            <a:r>
              <a:rPr sz="2850" b="1" spc="-60">
                <a:solidFill>
                  <a:srgbClr val="0E4561"/>
                </a:solidFill>
                <a:latin typeface="Tahoma"/>
                <a:cs typeface="Tahoma"/>
              </a:rPr>
              <a:t> </a:t>
            </a:r>
            <a:r>
              <a:rPr sz="2850" b="1" spc="-10">
                <a:solidFill>
                  <a:srgbClr val="0E4561"/>
                </a:solidFill>
                <a:latin typeface="Tahoma"/>
                <a:cs typeface="Tahoma"/>
              </a:rPr>
              <a:t>Methods</a:t>
            </a:r>
            <a:endParaRPr sz="2850">
              <a:latin typeface="Tahoma"/>
              <a:cs typeface="Tahoma"/>
            </a:endParaRPr>
          </a:p>
          <a:p>
            <a:pPr marL="887730">
              <a:lnSpc>
                <a:spcPct val="100000"/>
              </a:lnSpc>
              <a:spcBef>
                <a:spcPts val="1280"/>
              </a:spcBef>
            </a:pPr>
            <a:r>
              <a:rPr sz="2250" spc="-80">
                <a:solidFill>
                  <a:srgbClr val="0E4561"/>
                </a:solidFill>
                <a:latin typeface="Verdana"/>
                <a:cs typeface="Verdana"/>
              </a:rPr>
              <a:t>Handling</a:t>
            </a:r>
            <a:r>
              <a:rPr sz="2250" spc="-14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05">
                <a:solidFill>
                  <a:srgbClr val="0E4561"/>
                </a:solidFill>
                <a:latin typeface="Verdana"/>
                <a:cs typeface="Verdana"/>
              </a:rPr>
              <a:t>Missing</a:t>
            </a:r>
            <a:r>
              <a:rPr sz="2250" spc="-14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0">
                <a:solidFill>
                  <a:srgbClr val="0E4561"/>
                </a:solidFill>
                <a:latin typeface="Verdana"/>
                <a:cs typeface="Verdana"/>
              </a:rPr>
              <a:t>Values:</a:t>
            </a:r>
            <a:endParaRPr sz="2250">
              <a:latin typeface="Verdana"/>
              <a:cs typeface="Verdana"/>
            </a:endParaRPr>
          </a:p>
          <a:p>
            <a:pPr marL="1376680">
              <a:lnSpc>
                <a:spcPct val="100000"/>
              </a:lnSpc>
              <a:spcBef>
                <a:spcPts val="1100"/>
              </a:spcBef>
            </a:pPr>
            <a:r>
              <a:rPr sz="2250" spc="-120">
                <a:solidFill>
                  <a:srgbClr val="0E4561"/>
                </a:solidFill>
                <a:latin typeface="Verdana"/>
                <a:cs typeface="Verdana"/>
              </a:rPr>
              <a:t>Identified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65">
                <a:solidFill>
                  <a:srgbClr val="0E4561"/>
                </a:solidFill>
                <a:latin typeface="Verdana"/>
                <a:cs typeface="Verdana"/>
              </a:rPr>
              <a:t>and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55">
                <a:solidFill>
                  <a:srgbClr val="0E4561"/>
                </a:solidFill>
                <a:latin typeface="Verdana"/>
                <a:cs typeface="Verdana"/>
              </a:rPr>
              <a:t>managed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14">
                <a:solidFill>
                  <a:srgbClr val="0E4561"/>
                </a:solidFill>
                <a:latin typeface="Verdana"/>
                <a:cs typeface="Verdana"/>
              </a:rPr>
              <a:t>missing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40">
                <a:solidFill>
                  <a:srgbClr val="0E4561"/>
                </a:solidFill>
                <a:latin typeface="Verdana"/>
                <a:cs typeface="Verdana"/>
              </a:rPr>
              <a:t>data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00">
                <a:solidFill>
                  <a:srgbClr val="0E4561"/>
                </a:solidFill>
                <a:latin typeface="Verdana"/>
                <a:cs typeface="Verdana"/>
              </a:rPr>
              <a:t>through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05">
                <a:solidFill>
                  <a:srgbClr val="0E4561"/>
                </a:solidFill>
                <a:latin typeface="Verdana"/>
                <a:cs typeface="Verdana"/>
              </a:rPr>
              <a:t>imputation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60">
                <a:solidFill>
                  <a:srgbClr val="0E4561"/>
                </a:solidFill>
                <a:latin typeface="Verdana"/>
                <a:cs typeface="Verdana"/>
              </a:rPr>
              <a:t>or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0">
                <a:solidFill>
                  <a:srgbClr val="0E4561"/>
                </a:solidFill>
                <a:latin typeface="Verdana"/>
                <a:cs typeface="Verdana"/>
              </a:rPr>
              <a:t>removal.</a:t>
            </a:r>
            <a:endParaRPr sz="2250">
              <a:latin typeface="Verdana"/>
              <a:cs typeface="Verdana"/>
            </a:endParaRPr>
          </a:p>
          <a:p>
            <a:pPr marL="887730">
              <a:lnSpc>
                <a:spcPct val="100000"/>
              </a:lnSpc>
              <a:spcBef>
                <a:spcPts val="1105"/>
              </a:spcBef>
            </a:pPr>
            <a:r>
              <a:rPr sz="2250" spc="-60">
                <a:solidFill>
                  <a:srgbClr val="0E4561"/>
                </a:solidFill>
                <a:latin typeface="Verdana"/>
                <a:cs typeface="Verdana"/>
              </a:rPr>
              <a:t>Data</a:t>
            </a:r>
            <a:r>
              <a:rPr sz="2250" spc="-17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45">
                <a:solidFill>
                  <a:srgbClr val="0E4561"/>
                </a:solidFill>
                <a:latin typeface="Verdana"/>
                <a:cs typeface="Verdana"/>
              </a:rPr>
              <a:t>Transformation:</a:t>
            </a:r>
            <a:endParaRPr sz="2250">
              <a:latin typeface="Verdana"/>
              <a:cs typeface="Verdana"/>
            </a:endParaRPr>
          </a:p>
          <a:p>
            <a:pPr marL="1376680">
              <a:lnSpc>
                <a:spcPct val="100000"/>
              </a:lnSpc>
              <a:spcBef>
                <a:spcPts val="1105"/>
              </a:spcBef>
            </a:pPr>
            <a:r>
              <a:rPr sz="2250" spc="-95">
                <a:solidFill>
                  <a:srgbClr val="0E4561"/>
                </a:solidFill>
                <a:latin typeface="Verdana"/>
                <a:cs typeface="Verdana"/>
              </a:rPr>
              <a:t>Converted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40">
                <a:solidFill>
                  <a:srgbClr val="0E4561"/>
                </a:solidFill>
                <a:latin typeface="Verdana"/>
                <a:cs typeface="Verdana"/>
              </a:rPr>
              <a:t>data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90">
                <a:solidFill>
                  <a:srgbClr val="0E4561"/>
                </a:solidFill>
                <a:latin typeface="Verdana"/>
                <a:cs typeface="Verdana"/>
              </a:rPr>
              <a:t>types</a:t>
            </a:r>
            <a:r>
              <a:rPr sz="2250" spc="-14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65">
                <a:solidFill>
                  <a:srgbClr val="0E4561"/>
                </a:solidFill>
                <a:latin typeface="Verdana"/>
                <a:cs typeface="Verdana"/>
              </a:rPr>
              <a:t>and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85">
                <a:solidFill>
                  <a:srgbClr val="0E4561"/>
                </a:solidFill>
                <a:latin typeface="Verdana"/>
                <a:cs typeface="Verdana"/>
              </a:rPr>
              <a:t>standardized</a:t>
            </a:r>
            <a:r>
              <a:rPr sz="2250" spc="-14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70">
                <a:solidFill>
                  <a:srgbClr val="0E4561"/>
                </a:solidFill>
                <a:latin typeface="Verdana"/>
                <a:cs typeface="Verdana"/>
              </a:rPr>
              <a:t>formats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30">
                <a:solidFill>
                  <a:srgbClr val="0E4561"/>
                </a:solidFill>
                <a:latin typeface="Verdana"/>
                <a:cs typeface="Verdana"/>
              </a:rPr>
              <a:t>for</a:t>
            </a:r>
            <a:r>
              <a:rPr sz="2250" spc="-14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0">
                <a:solidFill>
                  <a:srgbClr val="0E4561"/>
                </a:solidFill>
                <a:latin typeface="Verdana"/>
                <a:cs typeface="Verdana"/>
              </a:rPr>
              <a:t>consistency.</a:t>
            </a:r>
            <a:endParaRPr sz="2250">
              <a:latin typeface="Verdana"/>
              <a:cs typeface="Verdana"/>
            </a:endParaRPr>
          </a:p>
          <a:p>
            <a:pPr marL="887730">
              <a:lnSpc>
                <a:spcPct val="100000"/>
              </a:lnSpc>
              <a:spcBef>
                <a:spcPts val="1105"/>
              </a:spcBef>
            </a:pPr>
            <a:r>
              <a:rPr sz="2250" spc="-90">
                <a:solidFill>
                  <a:srgbClr val="0E4561"/>
                </a:solidFill>
                <a:latin typeface="Verdana"/>
                <a:cs typeface="Verdana"/>
              </a:rPr>
              <a:t>Removing</a:t>
            </a:r>
            <a:r>
              <a:rPr sz="2250" spc="-15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45">
                <a:solidFill>
                  <a:srgbClr val="0E4561"/>
                </a:solidFill>
                <a:latin typeface="Verdana"/>
                <a:cs typeface="Verdana"/>
              </a:rPr>
              <a:t>Duplicates:</a:t>
            </a:r>
            <a:endParaRPr sz="2250">
              <a:latin typeface="Verdana"/>
              <a:cs typeface="Verdana"/>
            </a:endParaRPr>
          </a:p>
          <a:p>
            <a:pPr marL="1376680">
              <a:lnSpc>
                <a:spcPct val="100000"/>
              </a:lnSpc>
              <a:spcBef>
                <a:spcPts val="1100"/>
              </a:spcBef>
            </a:pPr>
            <a:r>
              <a:rPr sz="2250" spc="-90">
                <a:solidFill>
                  <a:srgbClr val="0E4561"/>
                </a:solidFill>
                <a:latin typeface="Verdana"/>
                <a:cs typeface="Verdana"/>
              </a:rPr>
              <a:t>Checked</a:t>
            </a:r>
            <a:r>
              <a:rPr sz="2250" spc="-16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30">
                <a:solidFill>
                  <a:srgbClr val="0E4561"/>
                </a:solidFill>
                <a:latin typeface="Verdana"/>
                <a:cs typeface="Verdana"/>
              </a:rPr>
              <a:t>for</a:t>
            </a:r>
            <a:r>
              <a:rPr sz="2250" spc="-15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65">
                <a:solidFill>
                  <a:srgbClr val="0E4561"/>
                </a:solidFill>
                <a:latin typeface="Verdana"/>
                <a:cs typeface="Verdana"/>
              </a:rPr>
              <a:t>and</a:t>
            </a:r>
            <a:r>
              <a:rPr sz="2250" spc="-15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85">
                <a:solidFill>
                  <a:srgbClr val="0E4561"/>
                </a:solidFill>
                <a:latin typeface="Verdana"/>
                <a:cs typeface="Verdana"/>
              </a:rPr>
              <a:t>removed</a:t>
            </a:r>
            <a:r>
              <a:rPr sz="2250" spc="-15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80">
                <a:solidFill>
                  <a:srgbClr val="0E4561"/>
                </a:solidFill>
                <a:latin typeface="Verdana"/>
                <a:cs typeface="Verdana"/>
              </a:rPr>
              <a:t>duplicate</a:t>
            </a:r>
            <a:r>
              <a:rPr sz="2250" spc="-15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70">
                <a:solidFill>
                  <a:srgbClr val="0E4561"/>
                </a:solidFill>
                <a:latin typeface="Verdana"/>
                <a:cs typeface="Verdana"/>
              </a:rPr>
              <a:t>records</a:t>
            </a:r>
            <a:r>
              <a:rPr sz="2250" spc="-15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70">
                <a:solidFill>
                  <a:srgbClr val="0E4561"/>
                </a:solidFill>
                <a:latin typeface="Verdana"/>
                <a:cs typeface="Verdana"/>
              </a:rPr>
              <a:t>to</a:t>
            </a:r>
            <a:r>
              <a:rPr sz="2250" spc="-15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10">
                <a:solidFill>
                  <a:srgbClr val="0E4561"/>
                </a:solidFill>
                <a:latin typeface="Verdana"/>
                <a:cs typeface="Verdana"/>
              </a:rPr>
              <a:t>ensure</a:t>
            </a:r>
            <a:r>
              <a:rPr sz="2250" spc="-15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40">
                <a:solidFill>
                  <a:srgbClr val="0E4561"/>
                </a:solidFill>
                <a:latin typeface="Verdana"/>
                <a:cs typeface="Verdana"/>
              </a:rPr>
              <a:t>data</a:t>
            </a:r>
            <a:r>
              <a:rPr sz="2250" spc="-15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25">
                <a:solidFill>
                  <a:srgbClr val="0E4561"/>
                </a:solidFill>
                <a:latin typeface="Verdana"/>
                <a:cs typeface="Verdana"/>
              </a:rPr>
              <a:t>uniqueness.</a:t>
            </a:r>
            <a:endParaRPr sz="2250">
              <a:latin typeface="Verdana"/>
              <a:cs typeface="Verdana"/>
            </a:endParaRPr>
          </a:p>
          <a:p>
            <a:pPr marL="887730">
              <a:lnSpc>
                <a:spcPct val="100000"/>
              </a:lnSpc>
              <a:spcBef>
                <a:spcPts val="1105"/>
              </a:spcBef>
            </a:pPr>
            <a:r>
              <a:rPr sz="2250" spc="-110">
                <a:solidFill>
                  <a:srgbClr val="0E4561"/>
                </a:solidFill>
                <a:latin typeface="Verdana"/>
                <a:cs typeface="Verdana"/>
              </a:rPr>
              <a:t>Outlier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45">
                <a:solidFill>
                  <a:srgbClr val="0E4561"/>
                </a:solidFill>
                <a:latin typeface="Verdana"/>
                <a:cs typeface="Verdana"/>
              </a:rPr>
              <a:t>Detection:</a:t>
            </a:r>
            <a:endParaRPr sz="2250">
              <a:latin typeface="Verdana"/>
              <a:cs typeface="Verdana"/>
            </a:endParaRPr>
          </a:p>
          <a:p>
            <a:pPr marL="1376680">
              <a:lnSpc>
                <a:spcPct val="100000"/>
              </a:lnSpc>
              <a:spcBef>
                <a:spcPts val="1105"/>
              </a:spcBef>
            </a:pPr>
            <a:r>
              <a:rPr sz="2250" spc="-120">
                <a:solidFill>
                  <a:srgbClr val="0E4561"/>
                </a:solidFill>
                <a:latin typeface="Verdana"/>
                <a:cs typeface="Verdana"/>
              </a:rPr>
              <a:t>Identified</a:t>
            </a:r>
            <a:r>
              <a:rPr sz="2250" spc="-15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65">
                <a:solidFill>
                  <a:srgbClr val="0E4561"/>
                </a:solidFill>
                <a:latin typeface="Verdana"/>
                <a:cs typeface="Verdana"/>
              </a:rPr>
              <a:t>and</a:t>
            </a:r>
            <a:r>
              <a:rPr sz="2250" spc="-15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80">
                <a:solidFill>
                  <a:srgbClr val="0E4561"/>
                </a:solidFill>
                <a:latin typeface="Verdana"/>
                <a:cs typeface="Verdana"/>
              </a:rPr>
              <a:t>handled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05">
                <a:solidFill>
                  <a:srgbClr val="0E4561"/>
                </a:solidFill>
                <a:latin typeface="Verdana"/>
                <a:cs typeface="Verdana"/>
              </a:rPr>
              <a:t>outliers</a:t>
            </a:r>
            <a:r>
              <a:rPr sz="2250" spc="-15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10">
                <a:solidFill>
                  <a:srgbClr val="0E4561"/>
                </a:solidFill>
                <a:latin typeface="Verdana"/>
                <a:cs typeface="Verdana"/>
              </a:rPr>
              <a:t>using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05">
                <a:solidFill>
                  <a:srgbClr val="0E4561"/>
                </a:solidFill>
                <a:latin typeface="Verdana"/>
                <a:cs typeface="Verdana"/>
              </a:rPr>
              <a:t>techniques</a:t>
            </a:r>
            <a:r>
              <a:rPr sz="2250" spc="-15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10">
                <a:solidFill>
                  <a:srgbClr val="0E4561"/>
                </a:solidFill>
                <a:latin typeface="Verdana"/>
                <a:cs typeface="Verdana"/>
              </a:rPr>
              <a:t>such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60">
                <a:solidFill>
                  <a:srgbClr val="0E4561"/>
                </a:solidFill>
                <a:latin typeface="Verdana"/>
                <a:cs typeface="Verdana"/>
              </a:rPr>
              <a:t>as</a:t>
            </a:r>
            <a:r>
              <a:rPr sz="2250" spc="-15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40">
                <a:solidFill>
                  <a:srgbClr val="0E4561"/>
                </a:solidFill>
                <a:latin typeface="Verdana"/>
                <a:cs typeface="Verdana"/>
              </a:rPr>
              <a:t>z-</a:t>
            </a:r>
            <a:r>
              <a:rPr sz="2250" spc="-65">
                <a:solidFill>
                  <a:srgbClr val="0E4561"/>
                </a:solidFill>
                <a:latin typeface="Verdana"/>
                <a:cs typeface="Verdana"/>
              </a:rPr>
              <a:t>score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65">
                <a:solidFill>
                  <a:srgbClr val="0E4561"/>
                </a:solidFill>
                <a:latin typeface="Verdana"/>
                <a:cs typeface="Verdana"/>
              </a:rPr>
              <a:t>and</a:t>
            </a:r>
            <a:r>
              <a:rPr sz="2250" spc="-150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175">
                <a:solidFill>
                  <a:srgbClr val="0E4561"/>
                </a:solidFill>
                <a:latin typeface="Verdana"/>
                <a:cs typeface="Verdana"/>
              </a:rPr>
              <a:t>IQR</a:t>
            </a:r>
            <a:r>
              <a:rPr sz="2250" spc="-145">
                <a:solidFill>
                  <a:srgbClr val="0E4561"/>
                </a:solidFill>
                <a:latin typeface="Verdana"/>
                <a:cs typeface="Verdana"/>
              </a:rPr>
              <a:t> </a:t>
            </a:r>
            <a:r>
              <a:rPr sz="2250" spc="-30">
                <a:solidFill>
                  <a:srgbClr val="0E4561"/>
                </a:solidFill>
                <a:latin typeface="Verdana"/>
                <a:cs typeface="Verdana"/>
              </a:rPr>
              <a:t>method.</a:t>
            </a:r>
            <a:endParaRPr sz="225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09935" y="9017253"/>
            <a:ext cx="229776" cy="22976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70425" y="9019428"/>
            <a:ext cx="229780" cy="22977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91904" y="9019431"/>
            <a:ext cx="229780" cy="22976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31233" y="9019428"/>
            <a:ext cx="229780" cy="229771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52526" y="9019428"/>
            <a:ext cx="229780" cy="2297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5783" y="2392401"/>
            <a:ext cx="8914130" cy="6677659"/>
            <a:chOff x="855783" y="2392401"/>
            <a:chExt cx="8914130" cy="66776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833" y="2392401"/>
              <a:ext cx="8877299" cy="66389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750308" y="2392468"/>
              <a:ext cx="0" cy="6639559"/>
            </a:xfrm>
            <a:custGeom>
              <a:avLst/>
              <a:gdLst/>
              <a:ahLst/>
              <a:cxnLst/>
              <a:rect l="l" t="t" r="r" b="b"/>
              <a:pathLst>
                <a:path h="6639559">
                  <a:moveTo>
                    <a:pt x="0" y="0"/>
                  </a:moveTo>
                  <a:lnTo>
                    <a:pt x="0" y="6639507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4833" y="9031908"/>
              <a:ext cx="8876030" cy="19050"/>
            </a:xfrm>
            <a:custGeom>
              <a:avLst/>
              <a:gdLst/>
              <a:ahLst/>
              <a:cxnLst/>
              <a:rect l="l" t="t" r="r" b="b"/>
              <a:pathLst>
                <a:path w="8876030" h="19050">
                  <a:moveTo>
                    <a:pt x="0" y="19049"/>
                  </a:moveTo>
                  <a:lnTo>
                    <a:pt x="8875541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algn="ctr">
              <a:lnSpc>
                <a:spcPct val="100000"/>
              </a:lnSpc>
              <a:spcBef>
                <a:spcPts val="100"/>
              </a:spcBef>
            </a:pPr>
            <a:r>
              <a:rPr sz="5300" i="0" spc="-370">
                <a:latin typeface="Cambria"/>
                <a:cs typeface="Cambria"/>
              </a:rPr>
              <a:t>Data</a:t>
            </a:r>
            <a:r>
              <a:rPr sz="5300" i="0" spc="90">
                <a:latin typeface="Cambria"/>
                <a:cs typeface="Cambria"/>
              </a:rPr>
              <a:t> </a:t>
            </a:r>
            <a:r>
              <a:rPr sz="5300" i="0" spc="-375">
                <a:latin typeface="Cambria"/>
                <a:cs typeface="Cambria"/>
              </a:rPr>
              <a:t>Visualization</a:t>
            </a:r>
            <a:r>
              <a:rPr sz="5300" i="0" spc="95">
                <a:latin typeface="Cambria"/>
                <a:cs typeface="Cambria"/>
              </a:rPr>
              <a:t> </a:t>
            </a:r>
            <a:r>
              <a:rPr sz="5300" i="0" spc="-400">
                <a:latin typeface="Cambria"/>
                <a:cs typeface="Cambria"/>
              </a:rPr>
              <a:t>Results</a:t>
            </a:r>
            <a:endParaRPr sz="53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5300" i="0" spc="-305">
                <a:latin typeface="Cambria"/>
                <a:cs typeface="Cambria"/>
              </a:rPr>
              <a:t>Top</a:t>
            </a:r>
            <a:r>
              <a:rPr sz="5300" i="0" spc="75">
                <a:latin typeface="Cambria"/>
                <a:cs typeface="Cambria"/>
              </a:rPr>
              <a:t> </a:t>
            </a:r>
            <a:r>
              <a:rPr sz="5300" i="0" spc="-835">
                <a:latin typeface="Cambria"/>
                <a:cs typeface="Cambria"/>
              </a:rPr>
              <a:t>20</a:t>
            </a:r>
            <a:r>
              <a:rPr sz="5300" i="0" spc="80">
                <a:latin typeface="Cambria"/>
                <a:cs typeface="Cambria"/>
              </a:rPr>
              <a:t> </a:t>
            </a:r>
            <a:r>
              <a:rPr sz="5300" i="0" spc="-525">
                <a:latin typeface="Cambria"/>
                <a:cs typeface="Cambria"/>
              </a:rPr>
              <a:t>movies</a:t>
            </a:r>
            <a:r>
              <a:rPr sz="5300" i="0" spc="80">
                <a:latin typeface="Cambria"/>
                <a:cs typeface="Cambria"/>
              </a:rPr>
              <a:t> </a:t>
            </a:r>
            <a:r>
              <a:rPr sz="5300" i="0" spc="-490">
                <a:latin typeface="Cambria"/>
                <a:cs typeface="Cambria"/>
              </a:rPr>
              <a:t>by</a:t>
            </a:r>
            <a:r>
              <a:rPr sz="5300" i="0" spc="80">
                <a:latin typeface="Cambria"/>
                <a:cs typeface="Cambria"/>
              </a:rPr>
              <a:t> </a:t>
            </a:r>
            <a:r>
              <a:rPr sz="5300" i="0" spc="-475">
                <a:latin typeface="Cambria"/>
                <a:cs typeface="Cambria"/>
              </a:rPr>
              <a:t>worldwide</a:t>
            </a:r>
            <a:r>
              <a:rPr sz="5300" i="0" spc="80">
                <a:latin typeface="Cambria"/>
                <a:cs typeface="Cambria"/>
              </a:rPr>
              <a:t> </a:t>
            </a:r>
            <a:r>
              <a:rPr sz="5300" i="0" spc="-525">
                <a:latin typeface="Cambria"/>
                <a:cs typeface="Cambria"/>
              </a:rPr>
              <a:t>gross</a:t>
            </a:r>
            <a:r>
              <a:rPr sz="5300" i="0" spc="80">
                <a:latin typeface="Cambria"/>
                <a:cs typeface="Cambria"/>
              </a:rPr>
              <a:t> </a:t>
            </a:r>
            <a:r>
              <a:rPr sz="5300" i="0" spc="-500">
                <a:latin typeface="Cambria"/>
                <a:cs typeface="Cambria"/>
              </a:rPr>
              <a:t>earnings</a:t>
            </a:r>
            <a:endParaRPr sz="53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44729" y="3012288"/>
            <a:ext cx="161925" cy="1619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426573" y="2584888"/>
            <a:ext cx="5726430" cy="459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sz="4300" spc="-85">
                <a:solidFill>
                  <a:srgbClr val="0E4561"/>
                </a:solidFill>
                <a:latin typeface="Cambria"/>
                <a:cs typeface="Cambria"/>
              </a:rPr>
              <a:t>The</a:t>
            </a:r>
            <a:r>
              <a:rPr sz="4300" spc="-15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90">
                <a:solidFill>
                  <a:srgbClr val="0E4561"/>
                </a:solidFill>
                <a:latin typeface="Cambria"/>
                <a:cs typeface="Cambria"/>
              </a:rPr>
              <a:t>top</a:t>
            </a:r>
            <a:r>
              <a:rPr sz="4300" spc="-7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229">
                <a:solidFill>
                  <a:srgbClr val="0E4561"/>
                </a:solidFill>
                <a:latin typeface="Cambria"/>
                <a:cs typeface="Cambria"/>
              </a:rPr>
              <a:t>three</a:t>
            </a:r>
            <a:r>
              <a:rPr sz="4300" spc="-1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280">
                <a:solidFill>
                  <a:srgbClr val="0E4561"/>
                </a:solidFill>
                <a:latin typeface="Cambria"/>
                <a:cs typeface="Cambria"/>
              </a:rPr>
              <a:t>movies</a:t>
            </a:r>
            <a:r>
              <a:rPr sz="4300" spc="4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25">
                <a:solidFill>
                  <a:srgbClr val="0E4561"/>
                </a:solidFill>
                <a:latin typeface="Cambria"/>
                <a:cs typeface="Cambria"/>
              </a:rPr>
              <a:t>by </a:t>
            </a:r>
            <a:r>
              <a:rPr sz="4300" spc="-300">
                <a:solidFill>
                  <a:srgbClr val="0E4561"/>
                </a:solidFill>
                <a:latin typeface="Cambria"/>
                <a:cs typeface="Cambria"/>
              </a:rPr>
              <a:t>revenue</a:t>
            </a:r>
            <a:r>
              <a:rPr sz="4300" spc="5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300">
                <a:solidFill>
                  <a:srgbClr val="0E4561"/>
                </a:solidFill>
                <a:latin typeface="Cambria"/>
                <a:cs typeface="Cambria"/>
              </a:rPr>
              <a:t>are</a:t>
            </a:r>
            <a:r>
              <a:rPr sz="4300" spc="5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114">
                <a:solidFill>
                  <a:srgbClr val="0E4561"/>
                </a:solidFill>
                <a:latin typeface="Cambria"/>
                <a:cs typeface="Cambria"/>
              </a:rPr>
              <a:t>Avatar</a:t>
            </a:r>
            <a:r>
              <a:rPr sz="4300" spc="-7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20">
                <a:solidFill>
                  <a:srgbClr val="0E4561"/>
                </a:solidFill>
                <a:latin typeface="Cambria"/>
                <a:cs typeface="Cambria"/>
              </a:rPr>
              <a:t>with </a:t>
            </a:r>
            <a:r>
              <a:rPr sz="4300" spc="-220">
                <a:solidFill>
                  <a:srgbClr val="0E4561"/>
                </a:solidFill>
                <a:latin typeface="Cambria"/>
                <a:cs typeface="Cambria"/>
              </a:rPr>
              <a:t>approximately</a:t>
            </a:r>
            <a:r>
              <a:rPr sz="4300" spc="7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360">
                <a:solidFill>
                  <a:srgbClr val="0E4561"/>
                </a:solidFill>
                <a:latin typeface="Cambria"/>
                <a:cs typeface="Cambria"/>
              </a:rPr>
              <a:t>$2.8</a:t>
            </a:r>
            <a:r>
              <a:rPr sz="4300" spc="7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10">
                <a:solidFill>
                  <a:srgbClr val="0E4561"/>
                </a:solidFill>
                <a:latin typeface="Cambria"/>
                <a:cs typeface="Cambria"/>
              </a:rPr>
              <a:t>Billion </a:t>
            </a:r>
            <a:r>
              <a:rPr sz="4300" spc="-195">
                <a:solidFill>
                  <a:srgbClr val="0E4561"/>
                </a:solidFill>
                <a:latin typeface="Cambria"/>
                <a:cs typeface="Cambria"/>
              </a:rPr>
              <a:t>followed</a:t>
            </a:r>
            <a:r>
              <a:rPr sz="4300" spc="-4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180">
                <a:solidFill>
                  <a:srgbClr val="0E4561"/>
                </a:solidFill>
                <a:latin typeface="Cambria"/>
                <a:cs typeface="Cambria"/>
              </a:rPr>
              <a:t>by</a:t>
            </a:r>
            <a:r>
              <a:rPr sz="4300" spc="-55">
                <a:solidFill>
                  <a:srgbClr val="0E4561"/>
                </a:solidFill>
                <a:latin typeface="Cambria"/>
                <a:cs typeface="Cambria"/>
              </a:rPr>
              <a:t> Titanic</a:t>
            </a:r>
            <a:r>
              <a:rPr sz="4300" spc="-18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30">
                <a:solidFill>
                  <a:srgbClr val="0E4561"/>
                </a:solidFill>
                <a:latin typeface="Cambria"/>
                <a:cs typeface="Cambria"/>
              </a:rPr>
              <a:t>at</a:t>
            </a:r>
            <a:r>
              <a:rPr sz="4300" spc="-15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475">
                <a:solidFill>
                  <a:srgbClr val="0E4561"/>
                </a:solidFill>
                <a:latin typeface="Cambria"/>
                <a:cs typeface="Cambria"/>
              </a:rPr>
              <a:t>$2.2 </a:t>
            </a:r>
            <a:r>
              <a:rPr sz="4300" spc="-100">
                <a:solidFill>
                  <a:srgbClr val="0E4561"/>
                </a:solidFill>
                <a:latin typeface="Cambria"/>
                <a:cs typeface="Cambria"/>
              </a:rPr>
              <a:t>Billion</a:t>
            </a:r>
            <a:r>
              <a:rPr sz="4300" spc="-1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215">
                <a:solidFill>
                  <a:srgbClr val="0E4561"/>
                </a:solidFill>
                <a:latin typeface="Cambria"/>
                <a:cs typeface="Cambria"/>
              </a:rPr>
              <a:t>and</a:t>
            </a:r>
            <a:r>
              <a:rPr sz="4300" spc="-2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100">
                <a:solidFill>
                  <a:srgbClr val="0E4561"/>
                </a:solidFill>
                <a:latin typeface="Cambria"/>
                <a:cs typeface="Cambria"/>
              </a:rPr>
              <a:t>Star </a:t>
            </a:r>
            <a:r>
              <a:rPr sz="4300" spc="-220">
                <a:solidFill>
                  <a:srgbClr val="0E4561"/>
                </a:solidFill>
                <a:latin typeface="Cambria"/>
                <a:cs typeface="Cambria"/>
              </a:rPr>
              <a:t>Wars</a:t>
            </a:r>
            <a:r>
              <a:rPr sz="4300" spc="-1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125">
                <a:solidFill>
                  <a:srgbClr val="0E4561"/>
                </a:solidFill>
                <a:latin typeface="Cambria"/>
                <a:cs typeface="Cambria"/>
              </a:rPr>
              <a:t>with</a:t>
            </a:r>
            <a:endParaRPr sz="4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4300" spc="-370">
                <a:solidFill>
                  <a:srgbClr val="0E4561"/>
                </a:solidFill>
                <a:latin typeface="Cambria"/>
                <a:cs typeface="Cambria"/>
              </a:rPr>
              <a:t>$2.0</a:t>
            </a:r>
            <a:r>
              <a:rPr sz="4300" spc="6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300" spc="-10">
                <a:solidFill>
                  <a:srgbClr val="0E4561"/>
                </a:solidFill>
                <a:latin typeface="Cambria"/>
                <a:cs typeface="Cambria"/>
              </a:rPr>
              <a:t>Billion</a:t>
            </a:r>
            <a:endParaRPr sz="4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82652" y="390718"/>
            <a:ext cx="702945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i="0" spc="-370">
                <a:latin typeface="Cambria"/>
                <a:cs typeface="Cambria"/>
              </a:rPr>
              <a:t>Data</a:t>
            </a:r>
            <a:r>
              <a:rPr sz="5300" i="0" spc="90">
                <a:latin typeface="Cambria"/>
                <a:cs typeface="Cambria"/>
              </a:rPr>
              <a:t> </a:t>
            </a:r>
            <a:r>
              <a:rPr sz="5300" i="0" spc="-375">
                <a:latin typeface="Cambria"/>
                <a:cs typeface="Cambria"/>
              </a:rPr>
              <a:t>Visualization</a:t>
            </a:r>
            <a:r>
              <a:rPr sz="5300" i="0" spc="95">
                <a:latin typeface="Cambria"/>
                <a:cs typeface="Cambria"/>
              </a:rPr>
              <a:t> </a:t>
            </a:r>
            <a:r>
              <a:rPr sz="5300" i="0" spc="-400">
                <a:latin typeface="Cambria"/>
                <a:cs typeface="Cambria"/>
              </a:rPr>
              <a:t>Results</a:t>
            </a:r>
            <a:endParaRPr sz="53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8483" y="1418006"/>
            <a:ext cx="54438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30">
                <a:solidFill>
                  <a:srgbClr val="0E4561"/>
                </a:solidFill>
                <a:latin typeface="Cambria"/>
                <a:cs typeface="Cambria"/>
              </a:rPr>
              <a:t>Distribution</a:t>
            </a:r>
            <a:r>
              <a:rPr sz="4800" spc="-12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>
                <a:solidFill>
                  <a:srgbClr val="0E4561"/>
                </a:solidFill>
                <a:latin typeface="Cambria"/>
                <a:cs typeface="Cambria"/>
              </a:rPr>
              <a:t>of</a:t>
            </a:r>
            <a:r>
              <a:rPr sz="4800" spc="-12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160">
                <a:solidFill>
                  <a:srgbClr val="0E4561"/>
                </a:solidFill>
                <a:latin typeface="Cambria"/>
                <a:cs typeface="Cambria"/>
              </a:rPr>
              <a:t>Genres</a:t>
            </a:r>
            <a:endParaRPr sz="4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2407" y="3881030"/>
            <a:ext cx="167671" cy="1676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558253" y="3438913"/>
            <a:ext cx="5885815" cy="3181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2080">
              <a:lnSpc>
                <a:spcPct val="116300"/>
              </a:lnSpc>
              <a:spcBef>
                <a:spcPts val="100"/>
              </a:spcBef>
              <a:tabLst>
                <a:tab pos="4788535" algn="l"/>
              </a:tabLst>
            </a:pPr>
            <a:r>
              <a:rPr sz="4450" spc="-90">
                <a:solidFill>
                  <a:srgbClr val="0E4561"/>
                </a:solidFill>
                <a:latin typeface="Cambria"/>
                <a:cs typeface="Cambria"/>
              </a:rPr>
              <a:t>The</a:t>
            </a:r>
            <a:r>
              <a:rPr sz="4450" spc="-15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450" spc="-305">
                <a:solidFill>
                  <a:srgbClr val="0E4561"/>
                </a:solidFill>
                <a:latin typeface="Cambria"/>
                <a:cs typeface="Cambria"/>
              </a:rPr>
              <a:t>genres</a:t>
            </a:r>
            <a:r>
              <a:rPr sz="4450" spc="6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450" spc="-160">
                <a:solidFill>
                  <a:srgbClr val="0E4561"/>
                </a:solidFill>
                <a:latin typeface="Cambria"/>
                <a:cs typeface="Cambria"/>
              </a:rPr>
              <a:t>with</a:t>
            </a:r>
            <a:r>
              <a:rPr sz="4450" spc="-4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450" spc="-25">
                <a:solidFill>
                  <a:srgbClr val="0E4561"/>
                </a:solidFill>
                <a:latin typeface="Cambria"/>
                <a:cs typeface="Cambria"/>
              </a:rPr>
              <a:t>the</a:t>
            </a:r>
            <a:r>
              <a:rPr sz="4450">
                <a:solidFill>
                  <a:srgbClr val="0E4561"/>
                </a:solidFill>
                <a:latin typeface="Cambria"/>
                <a:cs typeface="Cambria"/>
              </a:rPr>
              <a:t>	</a:t>
            </a:r>
            <a:r>
              <a:rPr sz="4450" spc="-275">
                <a:solidFill>
                  <a:srgbClr val="0E4561"/>
                </a:solidFill>
                <a:latin typeface="Cambria"/>
                <a:cs typeface="Cambria"/>
              </a:rPr>
              <a:t>most </a:t>
            </a:r>
            <a:r>
              <a:rPr sz="4450" spc="-170">
                <a:solidFill>
                  <a:srgbClr val="0E4561"/>
                </a:solidFill>
                <a:latin typeface="Cambria"/>
                <a:cs typeface="Cambria"/>
              </a:rPr>
              <a:t>distributed</a:t>
            </a:r>
            <a:r>
              <a:rPr sz="4450" spc="-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450" spc="-155">
                <a:solidFill>
                  <a:srgbClr val="0E4561"/>
                </a:solidFill>
                <a:latin typeface="Cambria"/>
                <a:cs typeface="Cambria"/>
              </a:rPr>
              <a:t>is</a:t>
            </a:r>
            <a:r>
              <a:rPr sz="4450" spc="-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450" spc="-10">
                <a:solidFill>
                  <a:srgbClr val="0E4561"/>
                </a:solidFill>
                <a:latin typeface="Cambria"/>
                <a:cs typeface="Cambria"/>
              </a:rPr>
              <a:t>Drama </a:t>
            </a:r>
            <a:r>
              <a:rPr sz="4450" spc="-204">
                <a:solidFill>
                  <a:srgbClr val="0E4561"/>
                </a:solidFill>
                <a:latin typeface="Cambria"/>
                <a:cs typeface="Cambria"/>
              </a:rPr>
              <a:t>followed</a:t>
            </a:r>
            <a:r>
              <a:rPr sz="4450" spc="-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450" spc="-190">
                <a:solidFill>
                  <a:srgbClr val="0E4561"/>
                </a:solidFill>
                <a:latin typeface="Cambria"/>
                <a:cs typeface="Cambria"/>
              </a:rPr>
              <a:t>by</a:t>
            </a:r>
            <a:r>
              <a:rPr sz="4450" spc="-2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450" spc="-114">
                <a:solidFill>
                  <a:srgbClr val="0E4561"/>
                </a:solidFill>
                <a:latin typeface="Cambria"/>
                <a:cs typeface="Cambria"/>
              </a:rPr>
              <a:t>Documentary </a:t>
            </a:r>
            <a:r>
              <a:rPr sz="4450" spc="-220">
                <a:solidFill>
                  <a:srgbClr val="0E4561"/>
                </a:solidFill>
                <a:latin typeface="Cambria"/>
                <a:cs typeface="Cambria"/>
              </a:rPr>
              <a:t>and</a:t>
            </a:r>
            <a:r>
              <a:rPr sz="4450" spc="-1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450" spc="-10">
                <a:solidFill>
                  <a:srgbClr val="0E4561"/>
                </a:solidFill>
                <a:latin typeface="Cambria"/>
                <a:cs typeface="Cambria"/>
              </a:rPr>
              <a:t>Comedy</a:t>
            </a:r>
            <a:endParaRPr sz="4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3926" y="228297"/>
            <a:ext cx="702945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i="0" spc="-370">
                <a:latin typeface="Cambria"/>
                <a:cs typeface="Cambria"/>
              </a:rPr>
              <a:t>Data</a:t>
            </a:r>
            <a:r>
              <a:rPr sz="5300" i="0" spc="90">
                <a:latin typeface="Cambria"/>
                <a:cs typeface="Cambria"/>
              </a:rPr>
              <a:t> </a:t>
            </a:r>
            <a:r>
              <a:rPr sz="5300" i="0" spc="-375">
                <a:latin typeface="Cambria"/>
                <a:cs typeface="Cambria"/>
              </a:rPr>
              <a:t>Visualization</a:t>
            </a:r>
            <a:r>
              <a:rPr sz="5300" i="0" spc="95">
                <a:latin typeface="Cambria"/>
                <a:cs typeface="Cambria"/>
              </a:rPr>
              <a:t> </a:t>
            </a:r>
            <a:r>
              <a:rPr sz="5300" i="0" spc="-400">
                <a:latin typeface="Cambria"/>
                <a:cs typeface="Cambria"/>
              </a:rPr>
              <a:t>Results</a:t>
            </a:r>
            <a:endParaRPr sz="53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1437755"/>
            <a:ext cx="975868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65">
                <a:solidFill>
                  <a:srgbClr val="0E4561"/>
                </a:solidFill>
                <a:latin typeface="Cambria"/>
                <a:cs typeface="Cambria"/>
              </a:rPr>
              <a:t>Gross</a:t>
            </a:r>
            <a:r>
              <a:rPr sz="4800" spc="3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265">
                <a:solidFill>
                  <a:srgbClr val="0E4561"/>
                </a:solidFill>
                <a:latin typeface="Cambria"/>
                <a:cs typeface="Cambria"/>
              </a:rPr>
              <a:t>Revenue</a:t>
            </a:r>
            <a:r>
              <a:rPr sz="4800" spc="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409">
                <a:solidFill>
                  <a:srgbClr val="0E4561"/>
                </a:solidFill>
                <a:latin typeface="Cambria"/>
                <a:cs typeface="Cambria"/>
              </a:rPr>
              <a:t>vs</a:t>
            </a:r>
            <a:r>
              <a:rPr sz="4800" spc="6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lang="en-US" sz="4800" spc="-265">
                <a:solidFill>
                  <a:srgbClr val="0E4561"/>
                </a:solidFill>
                <a:latin typeface="Cambria"/>
                <a:cs typeface="Cambria"/>
              </a:rPr>
              <a:t>Release year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49160" y="3773495"/>
            <a:ext cx="5339080" cy="25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sz="2850" spc="-65">
                <a:solidFill>
                  <a:srgbClr val="0E4561"/>
                </a:solidFill>
                <a:latin typeface="Cambria"/>
                <a:cs typeface="Cambria"/>
              </a:rPr>
              <a:t>The</a:t>
            </a:r>
            <a:r>
              <a:rPr sz="2850" spc="-10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60">
                <a:solidFill>
                  <a:srgbClr val="0E4561"/>
                </a:solidFill>
                <a:latin typeface="Cambria"/>
                <a:cs typeface="Cambria"/>
              </a:rPr>
              <a:t>plot</a:t>
            </a:r>
            <a:r>
              <a:rPr sz="2850" spc="-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200">
                <a:solidFill>
                  <a:srgbClr val="0E4561"/>
                </a:solidFill>
                <a:latin typeface="Cambria"/>
                <a:cs typeface="Cambria"/>
              </a:rPr>
              <a:t>above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245">
                <a:solidFill>
                  <a:srgbClr val="0E4561"/>
                </a:solidFill>
                <a:latin typeface="Cambria"/>
                <a:cs typeface="Cambria"/>
              </a:rPr>
              <a:t>shows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155">
                <a:solidFill>
                  <a:srgbClr val="0E4561"/>
                </a:solidFill>
                <a:latin typeface="Cambria"/>
                <a:cs typeface="Cambria"/>
              </a:rPr>
              <a:t>an</a:t>
            </a:r>
            <a:r>
              <a:rPr sz="28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70">
                <a:solidFill>
                  <a:srgbClr val="0E4561"/>
                </a:solidFill>
                <a:latin typeface="Cambria"/>
                <a:cs typeface="Cambria"/>
              </a:rPr>
              <a:t>that</a:t>
            </a:r>
            <a:r>
              <a:rPr sz="2850" spc="-1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25">
                <a:solidFill>
                  <a:srgbClr val="0E4561"/>
                </a:solidFill>
                <a:latin typeface="Cambria"/>
                <a:cs typeface="Cambria"/>
              </a:rPr>
              <a:t>the </a:t>
            </a:r>
            <a:r>
              <a:rPr sz="2850" spc="-204">
                <a:solidFill>
                  <a:srgbClr val="0E4561"/>
                </a:solidFill>
                <a:latin typeface="Cambria"/>
                <a:cs typeface="Cambria"/>
              </a:rPr>
              <a:t>gross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204">
                <a:solidFill>
                  <a:srgbClr val="0E4561"/>
                </a:solidFill>
                <a:latin typeface="Cambria"/>
                <a:cs typeface="Cambria"/>
              </a:rPr>
              <a:t>revenue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110">
                <a:solidFill>
                  <a:srgbClr val="0E4561"/>
                </a:solidFill>
                <a:latin typeface="Cambria"/>
                <a:cs typeface="Cambria"/>
              </a:rPr>
              <a:t>from</a:t>
            </a:r>
            <a:r>
              <a:rPr sz="2850" spc="2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190">
                <a:solidFill>
                  <a:srgbClr val="0E4561"/>
                </a:solidFill>
                <a:latin typeface="Cambria"/>
                <a:cs typeface="Cambria"/>
              </a:rPr>
              <a:t>movies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25">
                <a:solidFill>
                  <a:srgbClr val="0E4561"/>
                </a:solidFill>
                <a:latin typeface="Cambria"/>
                <a:cs typeface="Cambria"/>
              </a:rPr>
              <a:t>has </a:t>
            </a:r>
            <a:r>
              <a:rPr sz="2850" spc="-160">
                <a:solidFill>
                  <a:srgbClr val="0E4561"/>
                </a:solidFill>
                <a:latin typeface="Cambria"/>
                <a:cs typeface="Cambria"/>
              </a:rPr>
              <a:t>generally</a:t>
            </a:r>
            <a:r>
              <a:rPr sz="2850" spc="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170">
                <a:solidFill>
                  <a:srgbClr val="0E4561"/>
                </a:solidFill>
                <a:latin typeface="Cambria"/>
                <a:cs typeface="Cambria"/>
              </a:rPr>
              <a:t>increased</a:t>
            </a:r>
            <a:r>
              <a:rPr sz="2850" spc="1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110">
                <a:solidFill>
                  <a:srgbClr val="0E4561"/>
                </a:solidFill>
                <a:latin typeface="Cambria"/>
                <a:cs typeface="Cambria"/>
              </a:rPr>
              <a:t>from</a:t>
            </a:r>
            <a:r>
              <a:rPr sz="2850" spc="-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390">
                <a:solidFill>
                  <a:srgbClr val="0E4561"/>
                </a:solidFill>
                <a:latin typeface="Cambria"/>
                <a:cs typeface="Cambria"/>
              </a:rPr>
              <a:t>1920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>
                <a:solidFill>
                  <a:srgbClr val="0E4561"/>
                </a:solidFill>
                <a:latin typeface="Cambria"/>
                <a:cs typeface="Cambria"/>
              </a:rPr>
              <a:t>to</a:t>
            </a:r>
            <a:r>
              <a:rPr sz="2850" spc="-4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285">
                <a:solidFill>
                  <a:srgbClr val="0E4561"/>
                </a:solidFill>
                <a:latin typeface="Cambria"/>
                <a:cs typeface="Cambria"/>
              </a:rPr>
              <a:t>2020. </a:t>
            </a:r>
            <a:r>
              <a:rPr sz="2850" spc="-60">
                <a:solidFill>
                  <a:srgbClr val="0E4561"/>
                </a:solidFill>
                <a:latin typeface="Cambria"/>
                <a:cs typeface="Cambria"/>
              </a:rPr>
              <a:t>This</a:t>
            </a:r>
            <a:r>
              <a:rPr sz="2850" spc="-9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200">
                <a:solidFill>
                  <a:srgbClr val="0E4561"/>
                </a:solidFill>
                <a:latin typeface="Cambria"/>
                <a:cs typeface="Cambria"/>
              </a:rPr>
              <a:t>suggests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70">
                <a:solidFill>
                  <a:srgbClr val="0E4561"/>
                </a:solidFill>
                <a:latin typeface="Cambria"/>
                <a:cs typeface="Cambria"/>
              </a:rPr>
              <a:t>that</a:t>
            </a:r>
            <a:r>
              <a:rPr sz="28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190">
                <a:solidFill>
                  <a:srgbClr val="0E4561"/>
                </a:solidFill>
                <a:latin typeface="Cambria"/>
                <a:cs typeface="Cambria"/>
              </a:rPr>
              <a:t>movies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204">
                <a:solidFill>
                  <a:srgbClr val="0E4561"/>
                </a:solidFill>
                <a:latin typeface="Cambria"/>
                <a:cs typeface="Cambria"/>
              </a:rPr>
              <a:t>release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25">
                <a:solidFill>
                  <a:srgbClr val="0E4561"/>
                </a:solidFill>
                <a:latin typeface="Cambria"/>
                <a:cs typeface="Cambria"/>
              </a:rPr>
              <a:t>in </a:t>
            </a:r>
            <a:r>
              <a:rPr sz="2850" spc="-120">
                <a:solidFill>
                  <a:srgbClr val="0E4561"/>
                </a:solidFill>
                <a:latin typeface="Cambria"/>
                <a:cs typeface="Cambria"/>
              </a:rPr>
              <a:t>later</a:t>
            </a:r>
            <a:r>
              <a:rPr sz="2850" spc="-4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220">
                <a:solidFill>
                  <a:srgbClr val="0E4561"/>
                </a:solidFill>
                <a:latin typeface="Cambria"/>
                <a:cs typeface="Cambria"/>
              </a:rPr>
              <a:t>years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110">
                <a:solidFill>
                  <a:srgbClr val="0E4561"/>
                </a:solidFill>
                <a:latin typeface="Cambria"/>
                <a:cs typeface="Cambria"/>
              </a:rPr>
              <a:t>tend</a:t>
            </a:r>
            <a:r>
              <a:rPr sz="2850" spc="-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>
                <a:solidFill>
                  <a:srgbClr val="0E4561"/>
                </a:solidFill>
                <a:latin typeface="Cambria"/>
                <a:cs typeface="Cambria"/>
              </a:rPr>
              <a:t>to</a:t>
            </a:r>
            <a:r>
              <a:rPr sz="2850" spc="-4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185">
                <a:solidFill>
                  <a:srgbClr val="0E4561"/>
                </a:solidFill>
                <a:latin typeface="Cambria"/>
                <a:cs typeface="Cambria"/>
              </a:rPr>
              <a:t>earn</a:t>
            </a:r>
            <a:r>
              <a:rPr sz="2850" spc="3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195">
                <a:solidFill>
                  <a:srgbClr val="0E4561"/>
                </a:solidFill>
                <a:latin typeface="Cambria"/>
                <a:cs typeface="Cambria"/>
              </a:rPr>
              <a:t>more</a:t>
            </a:r>
            <a:r>
              <a:rPr sz="285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850" spc="-140">
                <a:solidFill>
                  <a:srgbClr val="0E4561"/>
                </a:solidFill>
                <a:latin typeface="Cambria"/>
                <a:cs typeface="Cambria"/>
              </a:rPr>
              <a:t>revenue.</a:t>
            </a:r>
            <a:endParaRPr sz="2850">
              <a:latin typeface="Cambria"/>
              <a:cs typeface="Cambri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244122-EA7D-DDFC-8C3C-BD0C3A5EA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1" y="2400300"/>
            <a:ext cx="9712842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610" y="2626143"/>
            <a:ext cx="10334624" cy="645963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282652" y="390718"/>
            <a:ext cx="702945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i="0" spc="-370">
                <a:latin typeface="Cambria"/>
                <a:cs typeface="Cambria"/>
              </a:rPr>
              <a:t>Data</a:t>
            </a:r>
            <a:r>
              <a:rPr sz="5300" i="0" spc="90">
                <a:latin typeface="Cambria"/>
                <a:cs typeface="Cambria"/>
              </a:rPr>
              <a:t> </a:t>
            </a:r>
            <a:r>
              <a:rPr sz="5300" i="0" spc="-375">
                <a:latin typeface="Cambria"/>
                <a:cs typeface="Cambria"/>
              </a:rPr>
              <a:t>Visualization</a:t>
            </a:r>
            <a:r>
              <a:rPr sz="5300" i="0" spc="95">
                <a:latin typeface="Cambria"/>
                <a:cs typeface="Cambria"/>
              </a:rPr>
              <a:t> </a:t>
            </a:r>
            <a:r>
              <a:rPr sz="5300" i="0" spc="-400">
                <a:latin typeface="Cambria"/>
                <a:cs typeface="Cambria"/>
              </a:rPr>
              <a:t>Results</a:t>
            </a:r>
            <a:endParaRPr sz="53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5706" y="1030436"/>
            <a:ext cx="13762990" cy="7514590"/>
          </a:xfrm>
          <a:prstGeom prst="rect">
            <a:avLst/>
          </a:prstGeom>
        </p:spPr>
        <p:txBody>
          <a:bodyPr vert="horz" wrap="square" lIns="0" tIns="4197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4"/>
              </a:spcBef>
            </a:pPr>
            <a:r>
              <a:rPr sz="4800" spc="-55">
                <a:solidFill>
                  <a:srgbClr val="0E4561"/>
                </a:solidFill>
                <a:latin typeface="Cambria"/>
                <a:cs typeface="Cambria"/>
              </a:rPr>
              <a:t>Total</a:t>
            </a:r>
            <a:r>
              <a:rPr sz="4800" spc="-3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335">
                <a:solidFill>
                  <a:srgbClr val="0E4561"/>
                </a:solidFill>
                <a:latin typeface="Cambria"/>
                <a:cs typeface="Cambria"/>
              </a:rPr>
              <a:t>revenue</a:t>
            </a:r>
            <a:r>
              <a:rPr sz="4800" spc="6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335">
                <a:solidFill>
                  <a:srgbClr val="0E4561"/>
                </a:solidFill>
                <a:latin typeface="Cambria"/>
                <a:cs typeface="Cambria"/>
              </a:rPr>
              <a:t>release</a:t>
            </a:r>
            <a:r>
              <a:rPr sz="4800" spc="6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265">
                <a:solidFill>
                  <a:srgbClr val="0E4561"/>
                </a:solidFill>
                <a:latin typeface="Cambria"/>
                <a:cs typeface="Cambria"/>
              </a:rPr>
              <a:t>by</a:t>
            </a:r>
            <a:r>
              <a:rPr sz="4800" spc="3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265">
                <a:solidFill>
                  <a:srgbClr val="0E4561"/>
                </a:solidFill>
                <a:latin typeface="Cambria"/>
                <a:cs typeface="Cambria"/>
              </a:rPr>
              <a:t>Release</a:t>
            </a:r>
            <a:r>
              <a:rPr sz="4800" spc="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10">
                <a:solidFill>
                  <a:srgbClr val="0E4561"/>
                </a:solidFill>
                <a:latin typeface="Cambria"/>
                <a:cs typeface="Cambria"/>
              </a:rPr>
              <a:t>month</a:t>
            </a:r>
            <a:endParaRPr sz="4800">
              <a:latin typeface="Cambria"/>
              <a:cs typeface="Cambria"/>
            </a:endParaRPr>
          </a:p>
          <a:p>
            <a:pPr marL="8512810" marR="127000">
              <a:lnSpc>
                <a:spcPct val="116399"/>
              </a:lnSpc>
              <a:spcBef>
                <a:spcPts val="1400"/>
              </a:spcBef>
            </a:pPr>
            <a:r>
              <a:rPr sz="2900" b="1" spc="-180">
                <a:solidFill>
                  <a:srgbClr val="0E4561"/>
                </a:solidFill>
                <a:latin typeface="Cambria"/>
                <a:cs typeface="Cambria"/>
              </a:rPr>
              <a:t>The</a:t>
            </a:r>
            <a:r>
              <a:rPr sz="2900" b="1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b="1" spc="-245">
                <a:solidFill>
                  <a:srgbClr val="0E4561"/>
                </a:solidFill>
                <a:latin typeface="Cambria"/>
                <a:cs typeface="Cambria"/>
              </a:rPr>
              <a:t>ideal</a:t>
            </a:r>
            <a:r>
              <a:rPr sz="2900" b="1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b="1" spc="-254">
                <a:solidFill>
                  <a:srgbClr val="0E4561"/>
                </a:solidFill>
                <a:latin typeface="Cambria"/>
                <a:cs typeface="Cambria"/>
              </a:rPr>
              <a:t>months</a:t>
            </a:r>
            <a:r>
              <a:rPr sz="2900" b="1" spc="4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b="1" spc="-125">
                <a:solidFill>
                  <a:srgbClr val="0E4561"/>
                </a:solidFill>
                <a:latin typeface="Cambria"/>
                <a:cs typeface="Cambria"/>
              </a:rPr>
              <a:t>to</a:t>
            </a:r>
            <a:r>
              <a:rPr sz="2900" b="1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b="1" spc="-290">
                <a:solidFill>
                  <a:srgbClr val="0E4561"/>
                </a:solidFill>
                <a:latin typeface="Cambria"/>
                <a:cs typeface="Cambria"/>
              </a:rPr>
              <a:t>release</a:t>
            </a:r>
            <a:r>
              <a:rPr sz="2900" b="1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b="1" spc="-290">
                <a:solidFill>
                  <a:srgbClr val="0E4561"/>
                </a:solidFill>
                <a:latin typeface="Cambria"/>
                <a:cs typeface="Cambria"/>
              </a:rPr>
              <a:t>movies </a:t>
            </a:r>
            <a:r>
              <a:rPr sz="2900" b="1" spc="-300">
                <a:solidFill>
                  <a:srgbClr val="0E4561"/>
                </a:solidFill>
                <a:latin typeface="Cambria"/>
                <a:cs typeface="Cambria"/>
              </a:rPr>
              <a:t>are:</a:t>
            </a:r>
            <a:endParaRPr sz="2900">
              <a:latin typeface="Cambria"/>
              <a:cs typeface="Cambria"/>
            </a:endParaRPr>
          </a:p>
          <a:p>
            <a:pPr marL="8512810" marR="1224915">
              <a:lnSpc>
                <a:spcPct val="116399"/>
              </a:lnSpc>
            </a:pPr>
            <a:r>
              <a:rPr sz="2900" b="1" spc="-190">
                <a:solidFill>
                  <a:srgbClr val="0E4561"/>
                </a:solidFill>
                <a:latin typeface="Cambria"/>
                <a:cs typeface="Cambria"/>
              </a:rPr>
              <a:t>May</a:t>
            </a:r>
            <a:r>
              <a:rPr sz="2900" b="1" spc="3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210">
                <a:solidFill>
                  <a:srgbClr val="0E4561"/>
                </a:solidFill>
                <a:latin typeface="Cambria"/>
                <a:cs typeface="Cambria"/>
              </a:rPr>
              <a:t>has</a:t>
            </a:r>
            <a:r>
              <a:rPr sz="2900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00">
                <a:solidFill>
                  <a:srgbClr val="0E4561"/>
                </a:solidFill>
                <a:latin typeface="Cambria"/>
                <a:cs typeface="Cambria"/>
              </a:rPr>
              <a:t>the</a:t>
            </a:r>
            <a:r>
              <a:rPr sz="2900" spc="-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35">
                <a:solidFill>
                  <a:srgbClr val="0E4561"/>
                </a:solidFill>
                <a:latin typeface="Cambria"/>
                <a:cs typeface="Cambria"/>
              </a:rPr>
              <a:t>highest</a:t>
            </a:r>
            <a:r>
              <a:rPr sz="2900" spc="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75">
                <a:solidFill>
                  <a:srgbClr val="0E4561"/>
                </a:solidFill>
                <a:latin typeface="Cambria"/>
                <a:cs typeface="Cambria"/>
              </a:rPr>
              <a:t>average </a:t>
            </a:r>
            <a:r>
              <a:rPr sz="2900" spc="-160">
                <a:solidFill>
                  <a:srgbClr val="0E4561"/>
                </a:solidFill>
                <a:latin typeface="Cambria"/>
                <a:cs typeface="Cambria"/>
              </a:rPr>
              <a:t>worldwide</a:t>
            </a:r>
            <a:r>
              <a:rPr sz="2900" spc="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210">
                <a:solidFill>
                  <a:srgbClr val="0E4561"/>
                </a:solidFill>
                <a:latin typeface="Cambria"/>
                <a:cs typeface="Cambria"/>
              </a:rPr>
              <a:t>gross</a:t>
            </a:r>
            <a:r>
              <a:rPr sz="2900" spc="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20">
                <a:solidFill>
                  <a:srgbClr val="0E4561"/>
                </a:solidFill>
                <a:latin typeface="Cambria"/>
                <a:cs typeface="Cambria"/>
              </a:rPr>
              <a:t>earnings, </a:t>
            </a:r>
            <a:r>
              <a:rPr sz="2900" b="1" spc="-215">
                <a:solidFill>
                  <a:srgbClr val="0E4561"/>
                </a:solidFill>
                <a:latin typeface="Cambria"/>
                <a:cs typeface="Cambria"/>
              </a:rPr>
              <a:t>June</a:t>
            </a:r>
            <a:r>
              <a:rPr sz="2900" b="1" spc="4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30">
                <a:solidFill>
                  <a:srgbClr val="0E4561"/>
                </a:solidFill>
                <a:latin typeface="Cambria"/>
                <a:cs typeface="Cambria"/>
              </a:rPr>
              <a:t>and</a:t>
            </a:r>
            <a:r>
              <a:rPr sz="2900" spc="-3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05">
                <a:solidFill>
                  <a:srgbClr val="0E4561"/>
                </a:solidFill>
                <a:latin typeface="Cambria"/>
                <a:cs typeface="Cambria"/>
              </a:rPr>
              <a:t>then</a:t>
            </a:r>
            <a:r>
              <a:rPr sz="2900" spc="-2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b="1" spc="-20">
                <a:solidFill>
                  <a:srgbClr val="0E4561"/>
                </a:solidFill>
                <a:latin typeface="Cambria"/>
                <a:cs typeface="Cambria"/>
              </a:rPr>
              <a:t>July</a:t>
            </a:r>
            <a:endParaRPr sz="2900">
              <a:latin typeface="Cambria"/>
              <a:cs typeface="Cambria"/>
            </a:endParaRPr>
          </a:p>
          <a:p>
            <a:pPr marL="8512810" marR="5080">
              <a:lnSpc>
                <a:spcPct val="116399"/>
              </a:lnSpc>
            </a:pPr>
            <a:r>
              <a:rPr sz="2900" spc="60">
                <a:solidFill>
                  <a:srgbClr val="0E4561"/>
                </a:solidFill>
                <a:latin typeface="Cambria"/>
                <a:cs typeface="Cambria"/>
              </a:rPr>
              <a:t>*</a:t>
            </a:r>
            <a:r>
              <a:rPr sz="2900" spc="-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45">
                <a:solidFill>
                  <a:srgbClr val="0E4561"/>
                </a:solidFill>
                <a:latin typeface="Cambria"/>
                <a:cs typeface="Cambria"/>
              </a:rPr>
              <a:t>These</a:t>
            </a:r>
            <a:r>
              <a:rPr sz="2900" spc="-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45">
                <a:solidFill>
                  <a:srgbClr val="0E4561"/>
                </a:solidFill>
                <a:latin typeface="Cambria"/>
                <a:cs typeface="Cambria"/>
              </a:rPr>
              <a:t>months</a:t>
            </a:r>
            <a:r>
              <a:rPr sz="2900" spc="-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00">
                <a:solidFill>
                  <a:srgbClr val="0E4561"/>
                </a:solidFill>
                <a:latin typeface="Cambria"/>
                <a:cs typeface="Cambria"/>
              </a:rPr>
              <a:t>could</a:t>
            </a:r>
            <a:r>
              <a:rPr sz="2900" spc="-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50">
                <a:solidFill>
                  <a:srgbClr val="0E4561"/>
                </a:solidFill>
                <a:latin typeface="Cambria"/>
                <a:cs typeface="Cambria"/>
              </a:rPr>
              <a:t>be</a:t>
            </a:r>
            <a:r>
              <a:rPr sz="2900" spc="-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30">
                <a:solidFill>
                  <a:srgbClr val="0E4561"/>
                </a:solidFill>
                <a:latin typeface="Cambria"/>
                <a:cs typeface="Cambria"/>
              </a:rPr>
              <a:t>considered </a:t>
            </a:r>
            <a:r>
              <a:rPr sz="2900" spc="-100">
                <a:solidFill>
                  <a:srgbClr val="0E4561"/>
                </a:solidFill>
                <a:latin typeface="Cambria"/>
                <a:cs typeface="Cambria"/>
              </a:rPr>
              <a:t>the</a:t>
            </a:r>
            <a:r>
              <a:rPr sz="2900" spc="-6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55">
                <a:solidFill>
                  <a:srgbClr val="0E4561"/>
                </a:solidFill>
                <a:latin typeface="Cambria"/>
                <a:cs typeface="Cambria"/>
              </a:rPr>
              <a:t>best</a:t>
            </a:r>
            <a:r>
              <a:rPr sz="2900" spc="-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85">
                <a:solidFill>
                  <a:srgbClr val="0E4561"/>
                </a:solidFill>
                <a:latin typeface="Cambria"/>
                <a:cs typeface="Cambria"/>
              </a:rPr>
              <a:t>time</a:t>
            </a:r>
            <a:r>
              <a:rPr sz="2900" spc="-7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>
                <a:solidFill>
                  <a:srgbClr val="0E4561"/>
                </a:solidFill>
                <a:latin typeface="Cambria"/>
                <a:cs typeface="Cambria"/>
              </a:rPr>
              <a:t>to</a:t>
            </a:r>
            <a:r>
              <a:rPr sz="2900" spc="-15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200">
                <a:solidFill>
                  <a:srgbClr val="0E4561"/>
                </a:solidFill>
                <a:latin typeface="Cambria"/>
                <a:cs typeface="Cambria"/>
              </a:rPr>
              <a:t>release</a:t>
            </a:r>
            <a:r>
              <a:rPr sz="2900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>
                <a:solidFill>
                  <a:srgbClr val="0E4561"/>
                </a:solidFill>
                <a:latin typeface="Cambria"/>
                <a:cs typeface="Cambria"/>
              </a:rPr>
              <a:t>a</a:t>
            </a:r>
            <a:r>
              <a:rPr sz="2900" spc="-4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55">
                <a:solidFill>
                  <a:srgbClr val="0E4561"/>
                </a:solidFill>
                <a:latin typeface="Cambria"/>
                <a:cs typeface="Cambria"/>
              </a:rPr>
              <a:t>movie</a:t>
            </a:r>
            <a:r>
              <a:rPr sz="290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25">
                <a:solidFill>
                  <a:srgbClr val="0E4561"/>
                </a:solidFill>
                <a:latin typeface="Cambria"/>
                <a:cs typeface="Cambria"/>
              </a:rPr>
              <a:t>for </a:t>
            </a:r>
            <a:r>
              <a:rPr sz="2900" spc="-155">
                <a:solidFill>
                  <a:srgbClr val="0E4561"/>
                </a:solidFill>
                <a:latin typeface="Cambria"/>
                <a:cs typeface="Cambria"/>
              </a:rPr>
              <a:t>maximum</a:t>
            </a:r>
            <a:r>
              <a:rPr sz="2900" spc="-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95">
                <a:solidFill>
                  <a:srgbClr val="0E4561"/>
                </a:solidFill>
                <a:latin typeface="Cambria"/>
                <a:cs typeface="Cambria"/>
              </a:rPr>
              <a:t>revenue</a:t>
            </a:r>
            <a:r>
              <a:rPr sz="2900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245">
                <a:solidFill>
                  <a:srgbClr val="0E4561"/>
                </a:solidFill>
                <a:latin typeface="Cambria"/>
                <a:cs typeface="Cambria"/>
              </a:rPr>
              <a:t>as</a:t>
            </a:r>
            <a:r>
              <a:rPr sz="2900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35">
                <a:solidFill>
                  <a:srgbClr val="0E4561"/>
                </a:solidFill>
                <a:latin typeface="Cambria"/>
                <a:cs typeface="Cambria"/>
              </a:rPr>
              <a:t>they</a:t>
            </a:r>
            <a:r>
              <a:rPr sz="2900" spc="2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30">
                <a:solidFill>
                  <a:srgbClr val="0E4561"/>
                </a:solidFill>
                <a:latin typeface="Cambria"/>
                <a:cs typeface="Cambria"/>
              </a:rPr>
              <a:t>generate </a:t>
            </a:r>
            <a:r>
              <a:rPr sz="2900" spc="-100">
                <a:solidFill>
                  <a:srgbClr val="0E4561"/>
                </a:solidFill>
                <a:latin typeface="Cambria"/>
                <a:cs typeface="Cambria"/>
              </a:rPr>
              <a:t>the</a:t>
            </a:r>
            <a:r>
              <a:rPr sz="2900" spc="-1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35">
                <a:solidFill>
                  <a:srgbClr val="0E4561"/>
                </a:solidFill>
                <a:latin typeface="Cambria"/>
                <a:cs typeface="Cambria"/>
              </a:rPr>
              <a:t>highest</a:t>
            </a:r>
            <a:r>
              <a:rPr sz="2900" spc="1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60">
                <a:solidFill>
                  <a:srgbClr val="0E4561"/>
                </a:solidFill>
                <a:latin typeface="Cambria"/>
                <a:cs typeface="Cambria"/>
              </a:rPr>
              <a:t>worldwide</a:t>
            </a:r>
            <a:r>
              <a:rPr sz="2900" spc="1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210">
                <a:solidFill>
                  <a:srgbClr val="0E4561"/>
                </a:solidFill>
                <a:latin typeface="Cambria"/>
                <a:cs typeface="Cambria"/>
              </a:rPr>
              <a:t>gross</a:t>
            </a:r>
            <a:r>
              <a:rPr sz="2900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50">
                <a:solidFill>
                  <a:srgbClr val="0E4561"/>
                </a:solidFill>
                <a:latin typeface="Cambria"/>
                <a:cs typeface="Cambria"/>
              </a:rPr>
              <a:t>revenue </a:t>
            </a:r>
            <a:r>
              <a:rPr sz="2900" spc="-80">
                <a:solidFill>
                  <a:srgbClr val="0E4561"/>
                </a:solidFill>
                <a:latin typeface="Cambria"/>
                <a:cs typeface="Cambria"/>
              </a:rPr>
              <a:t>on</a:t>
            </a:r>
            <a:r>
              <a:rPr sz="2900" spc="-7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55">
                <a:solidFill>
                  <a:srgbClr val="0E4561"/>
                </a:solidFill>
                <a:latin typeface="Cambria"/>
                <a:cs typeface="Cambria"/>
              </a:rPr>
              <a:t>average.</a:t>
            </a:r>
            <a:endParaRPr sz="2900">
              <a:latin typeface="Cambria"/>
              <a:cs typeface="Cambria"/>
            </a:endParaRPr>
          </a:p>
          <a:p>
            <a:pPr marL="8512810" marR="748665">
              <a:lnSpc>
                <a:spcPct val="116399"/>
              </a:lnSpc>
            </a:pPr>
            <a:r>
              <a:rPr sz="2900" b="1" spc="-250">
                <a:solidFill>
                  <a:srgbClr val="0E4561"/>
                </a:solidFill>
                <a:latin typeface="Cambria"/>
                <a:cs typeface="Cambria"/>
              </a:rPr>
              <a:t>December</a:t>
            </a:r>
            <a:r>
              <a:rPr sz="2900" b="1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210">
                <a:solidFill>
                  <a:srgbClr val="0E4561"/>
                </a:solidFill>
                <a:latin typeface="Cambria"/>
                <a:cs typeface="Cambria"/>
              </a:rPr>
              <a:t>has</a:t>
            </a:r>
            <a:r>
              <a:rPr sz="2900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00">
                <a:solidFill>
                  <a:srgbClr val="0E4561"/>
                </a:solidFill>
                <a:latin typeface="Cambria"/>
                <a:cs typeface="Cambria"/>
              </a:rPr>
              <a:t>the</a:t>
            </a:r>
            <a:r>
              <a:rPr sz="290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135">
                <a:solidFill>
                  <a:srgbClr val="0E4561"/>
                </a:solidFill>
                <a:latin typeface="Cambria"/>
                <a:cs typeface="Cambria"/>
              </a:rPr>
              <a:t>highest</a:t>
            </a:r>
            <a:r>
              <a:rPr sz="2900" spc="3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00" spc="-40">
                <a:solidFill>
                  <a:srgbClr val="0E4561"/>
                </a:solidFill>
                <a:latin typeface="Cambria"/>
                <a:cs typeface="Cambria"/>
              </a:rPr>
              <a:t>total </a:t>
            </a:r>
            <a:r>
              <a:rPr sz="2900" spc="-55">
                <a:solidFill>
                  <a:srgbClr val="0E4561"/>
                </a:solidFill>
                <a:latin typeface="Cambria"/>
                <a:cs typeface="Cambria"/>
              </a:rPr>
              <a:t>revenue</a:t>
            </a:r>
            <a:endParaRPr sz="2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675" y="2497072"/>
            <a:ext cx="9303006" cy="66008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282652" y="390718"/>
            <a:ext cx="702945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i="0" spc="-370">
                <a:latin typeface="Cambria"/>
                <a:cs typeface="Cambria"/>
              </a:rPr>
              <a:t>Data</a:t>
            </a:r>
            <a:r>
              <a:rPr sz="5300" i="0" spc="90">
                <a:latin typeface="Cambria"/>
                <a:cs typeface="Cambria"/>
              </a:rPr>
              <a:t> </a:t>
            </a:r>
            <a:r>
              <a:rPr sz="5300" i="0" spc="-375">
                <a:latin typeface="Cambria"/>
                <a:cs typeface="Cambria"/>
              </a:rPr>
              <a:t>Visualization</a:t>
            </a:r>
            <a:r>
              <a:rPr sz="5300" i="0" spc="95">
                <a:latin typeface="Cambria"/>
                <a:cs typeface="Cambria"/>
              </a:rPr>
              <a:t> </a:t>
            </a:r>
            <a:r>
              <a:rPr sz="5300" i="0" spc="-400">
                <a:latin typeface="Cambria"/>
                <a:cs typeface="Cambria"/>
              </a:rPr>
              <a:t>Results</a:t>
            </a:r>
            <a:endParaRPr sz="53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5706" y="1437755"/>
            <a:ext cx="114458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70">
                <a:solidFill>
                  <a:srgbClr val="0E4561"/>
                </a:solidFill>
                <a:latin typeface="Cambria"/>
                <a:cs typeface="Cambria"/>
              </a:rPr>
              <a:t>Movie</a:t>
            </a:r>
            <a:r>
              <a:rPr sz="4800" spc="-10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275">
                <a:solidFill>
                  <a:srgbClr val="0E4561"/>
                </a:solidFill>
                <a:latin typeface="Cambria"/>
                <a:cs typeface="Cambria"/>
              </a:rPr>
              <a:t>earnings</a:t>
            </a:r>
            <a:r>
              <a:rPr sz="4800" spc="1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260">
                <a:solidFill>
                  <a:srgbClr val="0E4561"/>
                </a:solidFill>
                <a:latin typeface="Cambria"/>
                <a:cs typeface="Cambria"/>
              </a:rPr>
              <a:t>and</a:t>
            </a:r>
            <a:r>
              <a:rPr sz="4800" spc="-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100">
                <a:solidFill>
                  <a:srgbClr val="0E4561"/>
                </a:solidFill>
                <a:latin typeface="Cambria"/>
                <a:cs typeface="Cambria"/>
              </a:rPr>
              <a:t>profit</a:t>
            </a:r>
            <a:r>
              <a:rPr sz="4800" spc="-5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210">
                <a:solidFill>
                  <a:srgbClr val="0E4561"/>
                </a:solidFill>
                <a:latin typeface="Cambria"/>
                <a:cs typeface="Cambria"/>
              </a:rPr>
              <a:t>Trends</a:t>
            </a:r>
            <a:r>
              <a:rPr sz="4800" spc="-1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320">
                <a:solidFill>
                  <a:srgbClr val="0E4561"/>
                </a:solidFill>
                <a:latin typeface="Cambria"/>
                <a:cs typeface="Cambria"/>
              </a:rPr>
              <a:t>over</a:t>
            </a:r>
            <a:r>
              <a:rPr sz="4800" spc="5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175">
                <a:solidFill>
                  <a:srgbClr val="0E4561"/>
                </a:solidFill>
                <a:latin typeface="Cambria"/>
                <a:cs typeface="Cambria"/>
              </a:rPr>
              <a:t>the</a:t>
            </a:r>
            <a:r>
              <a:rPr sz="4800" spc="-2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4800" spc="-375">
                <a:solidFill>
                  <a:srgbClr val="0E4561"/>
                </a:solidFill>
                <a:latin typeface="Cambria"/>
                <a:cs typeface="Cambria"/>
              </a:rPr>
              <a:t>years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12219" y="3434795"/>
            <a:ext cx="5167630" cy="212153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950" spc="-40">
                <a:solidFill>
                  <a:srgbClr val="0E4561"/>
                </a:solidFill>
                <a:latin typeface="Cambria"/>
                <a:cs typeface="Cambria"/>
              </a:rPr>
              <a:t>Over</a:t>
            </a:r>
            <a:r>
              <a:rPr sz="2950" spc="-13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50" spc="-65">
                <a:solidFill>
                  <a:srgbClr val="0E4561"/>
                </a:solidFill>
                <a:latin typeface="Cambria"/>
                <a:cs typeface="Cambria"/>
              </a:rPr>
              <a:t>time,</a:t>
            </a:r>
            <a:r>
              <a:rPr sz="2950" spc="-5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50" spc="-285">
                <a:solidFill>
                  <a:srgbClr val="0E4561"/>
                </a:solidFill>
                <a:latin typeface="Cambria"/>
                <a:cs typeface="Cambria"/>
              </a:rPr>
              <a:t>we</a:t>
            </a:r>
            <a:r>
              <a:rPr sz="2950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50" spc="-10">
                <a:solidFill>
                  <a:srgbClr val="0E4561"/>
                </a:solidFill>
                <a:latin typeface="Cambria"/>
                <a:cs typeface="Cambria"/>
              </a:rPr>
              <a:t>notice</a:t>
            </a:r>
            <a:endParaRPr sz="2950">
              <a:latin typeface="Cambria"/>
              <a:cs typeface="Cambria"/>
            </a:endParaRPr>
          </a:p>
          <a:p>
            <a:pPr marL="12700" marR="5080">
              <a:lnSpc>
                <a:spcPts val="4130"/>
              </a:lnSpc>
              <a:spcBef>
                <a:spcPts val="90"/>
              </a:spcBef>
            </a:pPr>
            <a:r>
              <a:rPr sz="2950" spc="-150">
                <a:solidFill>
                  <a:srgbClr val="0E4561"/>
                </a:solidFill>
                <a:latin typeface="Cambria"/>
                <a:cs typeface="Cambria"/>
              </a:rPr>
              <a:t>`domestic_gross`,</a:t>
            </a:r>
            <a:r>
              <a:rPr sz="2950" spc="10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50" spc="-160">
                <a:solidFill>
                  <a:srgbClr val="0E4561"/>
                </a:solidFill>
                <a:latin typeface="Cambria"/>
                <a:cs typeface="Cambria"/>
              </a:rPr>
              <a:t>`worldwide_gross` </a:t>
            </a:r>
            <a:r>
              <a:rPr sz="2950" spc="-140">
                <a:solidFill>
                  <a:srgbClr val="0E4561"/>
                </a:solidFill>
                <a:latin typeface="Cambria"/>
                <a:cs typeface="Cambria"/>
              </a:rPr>
              <a:t>and</a:t>
            </a:r>
            <a:r>
              <a:rPr sz="2950" spc="-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50" spc="-110">
                <a:solidFill>
                  <a:srgbClr val="0E4561"/>
                </a:solidFill>
                <a:latin typeface="Cambria"/>
                <a:cs typeface="Cambria"/>
              </a:rPr>
              <a:t>`profit`</a:t>
            </a:r>
            <a:r>
              <a:rPr sz="2950" spc="25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50" spc="-215">
                <a:solidFill>
                  <a:srgbClr val="0E4561"/>
                </a:solidFill>
                <a:latin typeface="Cambria"/>
                <a:cs typeface="Cambria"/>
              </a:rPr>
              <a:t>have</a:t>
            </a:r>
            <a:r>
              <a:rPr sz="2950" spc="4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50" spc="-190">
                <a:solidFill>
                  <a:srgbClr val="0E4561"/>
                </a:solidFill>
                <a:latin typeface="Cambria"/>
                <a:cs typeface="Cambria"/>
              </a:rPr>
              <a:t>been</a:t>
            </a:r>
            <a:r>
              <a:rPr sz="2950" spc="30">
                <a:solidFill>
                  <a:srgbClr val="0E4561"/>
                </a:solidFill>
                <a:latin typeface="Cambria"/>
                <a:cs typeface="Cambria"/>
              </a:rPr>
              <a:t> </a:t>
            </a:r>
            <a:r>
              <a:rPr sz="2950" spc="-40">
                <a:solidFill>
                  <a:srgbClr val="0E4561"/>
                </a:solidFill>
                <a:latin typeface="Cambria"/>
                <a:cs typeface="Cambria"/>
              </a:rPr>
              <a:t>generally </a:t>
            </a:r>
            <a:r>
              <a:rPr sz="2950" spc="-50">
                <a:solidFill>
                  <a:srgbClr val="0E4561"/>
                </a:solidFill>
                <a:latin typeface="Cambria"/>
                <a:cs typeface="Cambria"/>
              </a:rPr>
              <a:t>increasing.</a:t>
            </a:r>
            <a:endParaRPr sz="29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66CA07-51B9-3A2F-3D00-E4F40A51021E}"/>
              </a:ext>
            </a:extLst>
          </p:cNvPr>
          <p:cNvSpPr txBox="1"/>
          <p:nvPr/>
        </p:nvSpPr>
        <p:spPr>
          <a:xfrm>
            <a:off x="457200" y="1638300"/>
            <a:ext cx="17297400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Action, Adventure, Animation, Comedy, Drama, Fantasy, Horror, Romance, Sci-Fi, and Thriller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genres, since they are the most profitable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Action</a:t>
            </a: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movies, as they are the most popular, since the top 5 popular movies are     </a:t>
            </a:r>
            <a:endParaRPr lang="en-US" altLang="en-US" sz="32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from the action genre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lang="en-US" sz="3200"/>
              <a:t>Target mid-range budgets for optimal ROI and prioritize international appeal in story and  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/>
              <a:t>    marketing.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Schedule movie releases in </a:t>
            </a:r>
            <a:r>
              <a:rPr kumimoji="0" lang="en-US" altLang="en-US" sz="3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May, June, July, November, or December</a:t>
            </a: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, since movies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>
                <a:solidFill>
                  <a:schemeClr val="tx1"/>
                </a:solidFill>
                <a:latin typeface="Arial" panose="020B0604020202020204" pitchFamily="34" charset="0"/>
              </a:rPr>
              <a:t>    released in these months shown greater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</a:t>
            </a:r>
            <a:r>
              <a:rPr lang="en-US" sz="3200"/>
              <a:t> Tailor campaigns for domestic and international audiences separately and leverage high    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/>
              <a:t>     ratings when available for genres like Documentary or Drama.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FB7534-F856-ABB1-D2B1-8C8967D31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ABDFF35-C419-720A-B964-77A9FDA4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90718"/>
            <a:ext cx="11544935" cy="98488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60840" y="3115081"/>
            <a:ext cx="9250045" cy="2856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50" spc="-2060" dirty="0"/>
              <a:t>Thank</a:t>
            </a:r>
            <a:r>
              <a:rPr sz="18550" spc="275" dirty="0"/>
              <a:t> </a:t>
            </a:r>
            <a:r>
              <a:rPr sz="18550" spc="-1860" dirty="0"/>
              <a:t>you</a:t>
            </a:r>
            <a:endParaRPr sz="18550" dirty="0"/>
          </a:p>
        </p:txBody>
      </p:sp>
      <p:sp>
        <p:nvSpPr>
          <p:cNvPr id="3" name="object 3"/>
          <p:cNvSpPr/>
          <p:nvPr/>
        </p:nvSpPr>
        <p:spPr>
          <a:xfrm>
            <a:off x="5897879" y="2215083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7825" y="1125519"/>
            <a:ext cx="229776" cy="2297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8315" y="1127694"/>
            <a:ext cx="229780" cy="2297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29124" y="1127694"/>
            <a:ext cx="229780" cy="2297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9793" y="1127697"/>
            <a:ext cx="229780" cy="2297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50417" y="1127694"/>
            <a:ext cx="229780" cy="22977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897879" y="8159882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76199">
            <a:solidFill>
              <a:srgbClr val="0E456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07825" y="9017253"/>
            <a:ext cx="229776" cy="2297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68315" y="9019428"/>
            <a:ext cx="229780" cy="2297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29124" y="9019428"/>
            <a:ext cx="229780" cy="22977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9793" y="9019431"/>
            <a:ext cx="229780" cy="22976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50417" y="9019428"/>
            <a:ext cx="229780" cy="2297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774</Words>
  <Application>Microsoft Macintosh PowerPoint</Application>
  <PresentationFormat>Custom</PresentationFormat>
  <Paragraphs>101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Group Members</vt:lpstr>
      <vt:lpstr>Introduction</vt:lpstr>
      <vt:lpstr>Problem objectives</vt:lpstr>
      <vt:lpstr>DATA QUESTION TO BE ANSWERED</vt:lpstr>
      <vt:lpstr>DATA SOURCES</vt:lpstr>
      <vt:lpstr>Data Exploration and Cleaning Process</vt:lpstr>
      <vt:lpstr>Data Visualization Results Top 20 movies by worldwide gross earnings</vt:lpstr>
      <vt:lpstr>Data Visualization Results</vt:lpstr>
      <vt:lpstr>Data Visualization Results</vt:lpstr>
      <vt:lpstr>Data Visualization Results</vt:lpstr>
      <vt:lpstr>Data Visualization Results</vt:lpstr>
      <vt:lpstr>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Blue Simple Modern Enhancing Sales Strategy Presentation</dc:title>
  <dc:creator>Abdirizak Jarso</dc:creator>
  <cp:keywords>DAGL8UTNsv4,BAF_MQ-0bV4</cp:keywords>
  <cp:lastModifiedBy>Dawa Jarso</cp:lastModifiedBy>
  <cp:revision>3</cp:revision>
  <dcterms:created xsi:type="dcterms:W3CDTF">2025-11-13T17:40:16Z</dcterms:created>
  <dcterms:modified xsi:type="dcterms:W3CDTF">2025-11-13T18:50:46Z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2024-07-26T00:00:00Z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2025-11-13T00:00:00Z</vt:filetime>
  </property>
  <property fmtid="{D5CDD505-2E9C-101B-9397-08002B2CF9AE}" pid="5" name="Producer">
    <vt:lpwstr>Canva</vt:lpwstr>
  </property>
</Properties>
</file>